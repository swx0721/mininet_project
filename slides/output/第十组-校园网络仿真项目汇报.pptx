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我们项目的核心思路是：在一个轻量级网络仿真平台上，构建一所虚拟大学的校园网络，并且在上面部署 </a:t>
            </a:r>
            <a:r>
              <a:rPr lang="en-US" altLang="zh-CN" dirty="0"/>
              <a:t>QoS </a:t>
            </a:r>
            <a:r>
              <a:rPr lang="zh-CN" altLang="en-US" dirty="0"/>
              <a:t>流量整形、负载均衡、安全策略这三个关键机制，然后用消融实验的方法来量化评估每一项策略的实际效果。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接下来我将从网络拓扑设计、连通性验证、三个核心消融实验，以及 </a:t>
            </a:r>
            <a:r>
              <a:rPr lang="en-US" altLang="zh-CN" dirty="0"/>
              <a:t>VPN </a:t>
            </a:r>
            <a:r>
              <a:rPr lang="zh-CN" altLang="en-US" dirty="0"/>
              <a:t>远程接入这几个方面，依次向大家汇报我们的工作。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汇报分为六个部分。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首先介绍我们设计的网络拓扑——六类业务区域、双服务器架构，以及宿舍和教学楼采用的三层交换结构。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然后验证基础连通性，确保所有区域之间的路由和转发路径是正确的。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接下来的三部分是核心实验：</a:t>
            </a:r>
            <a:r>
              <a:rPr lang="en-US" altLang="zh-CN" dirty="0"/>
              <a:t>QoS </a:t>
            </a:r>
            <a:r>
              <a:rPr lang="zh-CN" altLang="en-US" dirty="0"/>
              <a:t>消融实验验证 </a:t>
            </a:r>
            <a:r>
              <a:rPr lang="en-US" altLang="zh-CN" dirty="0"/>
              <a:t>HTB </a:t>
            </a:r>
            <a:r>
              <a:rPr lang="zh-CN" altLang="en-US" dirty="0"/>
              <a:t>两级优先级队列的效果；负载均衡消融实验验证 </a:t>
            </a:r>
            <a:r>
              <a:rPr lang="en-US" altLang="zh-CN" dirty="0"/>
              <a:t>Round Robin </a:t>
            </a:r>
            <a:r>
              <a:rPr lang="zh-CN" altLang="en-US" dirty="0"/>
              <a:t>调度算法的公平性；安全策略消融实验验证 </a:t>
            </a:r>
            <a:r>
              <a:rPr lang="en-US" altLang="zh-CN" dirty="0"/>
              <a:t>ACL、IDS </a:t>
            </a:r>
            <a:r>
              <a:rPr lang="zh-CN" altLang="en-US" dirty="0"/>
              <a:t>和 </a:t>
            </a:r>
            <a:r>
              <a:rPr lang="en-US" altLang="zh-CN" dirty="0"/>
              <a:t>Flood </a:t>
            </a:r>
            <a:r>
              <a:rPr lang="zh-CN" altLang="en-US" dirty="0"/>
              <a:t>防护的综合效果。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最后一部分演示 </a:t>
            </a:r>
            <a:r>
              <a:rPr lang="en-US" altLang="zh-CN" dirty="0"/>
              <a:t>VPN </a:t>
            </a:r>
            <a:r>
              <a:rPr lang="zh-CN" altLang="en-US" dirty="0"/>
              <a:t>远程接入和双层 </a:t>
            </a:r>
            <a:r>
              <a:rPr lang="en-US" altLang="zh-CN" dirty="0"/>
              <a:t>ACL——</a:t>
            </a:r>
            <a:r>
              <a:rPr lang="zh-CN" altLang="en-US" dirty="0"/>
              <a:t>这是模拟校外师生通过公网安全访问校园网的场景。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这是我们设计的网络拓扑。校园网分为六个功能区域：宿舍区、教学楼、图书馆、办公楼、财务处和人事处。每个区域分配独立的 </a:t>
            </a:r>
            <a:r>
              <a:rPr lang="en-US" altLang="zh-CN" dirty="0"/>
              <a:t>IP </a:t>
            </a:r>
            <a:r>
              <a:rPr lang="zh-CN" altLang="en-US" dirty="0"/>
              <a:t>子网，比如宿舍区使用 10.0.0.0/20，办公楼使用 10.0.34.0/24，敏感区域财务处和人事处使用更小的子网掩码，体现安全隔离的设计意图。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所有区域通过一台核心路由器 </a:t>
            </a:r>
            <a:r>
              <a:rPr lang="en-US" altLang="zh-CN" dirty="0"/>
              <a:t>r1 </a:t>
            </a:r>
            <a:r>
              <a:rPr lang="zh-CN" altLang="en-US" dirty="0"/>
              <a:t>实现三层互联，</a:t>
            </a:r>
            <a:r>
              <a:rPr lang="en-US" altLang="zh-CN" dirty="0"/>
              <a:t>r1 </a:t>
            </a:r>
            <a:r>
              <a:rPr lang="zh-CN" altLang="en-US" dirty="0"/>
              <a:t>上运行 </a:t>
            </a:r>
            <a:r>
              <a:rPr lang="en-US" altLang="zh-CN" dirty="0"/>
              <a:t>Linux </a:t>
            </a:r>
            <a:r>
              <a:rPr lang="zh-CN" altLang="en-US" dirty="0"/>
              <a:t>内核的原生 </a:t>
            </a:r>
            <a:r>
              <a:rPr lang="en-US" altLang="zh-CN" dirty="0"/>
              <a:t>IP </a:t>
            </a:r>
            <a:r>
              <a:rPr lang="zh-CN" altLang="en-US" dirty="0"/>
              <a:t>转发，这是我们部署 </a:t>
            </a:r>
            <a:r>
              <a:rPr lang="en-US" altLang="zh-CN" dirty="0"/>
              <a:t>iptables </a:t>
            </a:r>
            <a:r>
              <a:rPr lang="zh-CN" altLang="en-US" dirty="0"/>
              <a:t>防火墙规则的位置。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宿舍和教学楼的终端数量较多，采用了接入-汇聚二级交换结构：3 台接入交换机连接到 1 台汇聚交换机，再接入核心路由器。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后端有两台服务器，分别通过独立的上行链路连接到 </a:t>
            </a:r>
            <a:r>
              <a:rPr lang="en-US" altLang="zh-CN" dirty="0"/>
              <a:t>r1——</a:t>
            </a:r>
            <a:r>
              <a:rPr lang="zh-CN" altLang="en-US" dirty="0"/>
              <a:t>这是后面负载均衡实验的物理基础，两台服务器的链路各 20 </a:t>
            </a:r>
            <a:r>
              <a:rPr lang="en-US" altLang="zh-CN" dirty="0"/>
              <a:t>Mbps </a:t>
            </a:r>
            <a:r>
              <a:rPr lang="zh-CN" altLang="en-US" dirty="0"/>
              <a:t>带宽上限。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关于</a:t>
            </a:r>
            <a:r>
              <a:rPr lang="en-US" altLang="zh-CN" dirty="0"/>
              <a:t>iptables:</a:t>
            </a:r>
            <a:br>
              <a:rPr lang="en-US" altLang="zh-CN" dirty="0"/>
            </a:br>
            <a:r>
              <a:rPr lang="en-US" altLang="zh-CN" dirty="0"/>
              <a:t>iptables </a:t>
            </a:r>
            <a:r>
              <a:rPr lang="zh-CN" altLang="en-US" dirty="0"/>
              <a:t>是 </a:t>
            </a:r>
            <a:r>
              <a:rPr lang="en-US" altLang="zh-CN" dirty="0"/>
              <a:t>Linux </a:t>
            </a:r>
            <a:r>
              <a:rPr lang="zh-CN" altLang="en-US" dirty="0"/>
              <a:t>内核的包过滤防火墙管理工具，它操作 </a:t>
            </a:r>
            <a:r>
              <a:rPr lang="en-US" altLang="zh-CN" dirty="0"/>
              <a:t>netfilter </a:t>
            </a:r>
            <a:r>
              <a:rPr lang="zh-CN" altLang="en-US" dirty="0"/>
              <a:t>框架来实现网络流量的拦截、放行或修改。</a:t>
            </a:r>
            <a:endParaRPr lang="en-US" altLang="zh-CN" dirty="0"/>
          </a:p>
          <a:p>
            <a:r>
              <a:rPr lang="zh-CN" altLang="en-US" dirty="0"/>
              <a:t>核心概念：</a:t>
            </a:r>
            <a:endParaRPr lang="en-US" altLang="zh-CN" dirty="0"/>
          </a:p>
          <a:p>
            <a:r>
              <a:rPr lang="zh-CN" altLang="en-US" dirty="0"/>
              <a:t>表（</a:t>
            </a:r>
            <a:r>
              <a:rPr lang="en-US" altLang="zh-CN" dirty="0"/>
              <a:t>Table）：filter（</a:t>
            </a:r>
            <a:r>
              <a:rPr lang="zh-CN" altLang="en-US" dirty="0"/>
              <a:t>过滤）、</a:t>
            </a:r>
            <a:r>
              <a:rPr lang="en-US" altLang="zh-CN" dirty="0"/>
              <a:t>nat（</a:t>
            </a:r>
            <a:r>
              <a:rPr lang="zh-CN" altLang="en-US" dirty="0"/>
              <a:t>地址转换）、</a:t>
            </a:r>
            <a:r>
              <a:rPr lang="en-US" altLang="zh-CN" dirty="0"/>
              <a:t>mangle（</a:t>
            </a:r>
            <a:r>
              <a:rPr lang="zh-CN" altLang="en-US" dirty="0"/>
              <a:t>修改包）等</a:t>
            </a:r>
            <a:endParaRPr lang="zh-CN" altLang="en-US" dirty="0"/>
          </a:p>
          <a:p>
            <a:r>
              <a:rPr lang="zh-CN" altLang="en-US" dirty="0"/>
              <a:t>链（</a:t>
            </a:r>
            <a:r>
              <a:rPr lang="en-US" altLang="zh-CN" dirty="0"/>
              <a:t>Chain）：</a:t>
            </a:r>
            <a:r>
              <a:rPr lang="zh-CN" altLang="en-US" dirty="0"/>
              <a:t>包经过的钩子点，如 </a:t>
            </a:r>
            <a:r>
              <a:rPr lang="en-US" altLang="zh-CN" dirty="0"/>
              <a:t>INPUT（</a:t>
            </a:r>
            <a:r>
              <a:rPr lang="zh-CN" altLang="en-US" dirty="0"/>
              <a:t>进本机）、</a:t>
            </a:r>
            <a:r>
              <a:rPr lang="en-US" altLang="zh-CN" dirty="0"/>
              <a:t>OUTPUT（</a:t>
            </a:r>
            <a:r>
              <a:rPr lang="zh-CN" altLang="en-US" dirty="0"/>
              <a:t>出本机）、</a:t>
            </a:r>
            <a:r>
              <a:rPr lang="en-US" altLang="zh-CN" dirty="0"/>
              <a:t>FORWARD（</a:t>
            </a:r>
            <a:r>
              <a:rPr lang="zh-CN" altLang="en-US" dirty="0"/>
              <a:t>转发）、</a:t>
            </a:r>
            <a:r>
              <a:rPr lang="en-US" altLang="zh-CN" dirty="0"/>
              <a:t>PREROUTING/POSTROUTING（</a:t>
            </a:r>
            <a:r>
              <a:rPr lang="zh-CN" altLang="en-US" dirty="0"/>
              <a:t>路由前后）</a:t>
            </a:r>
            <a:endParaRPr lang="zh-CN" altLang="en-US" dirty="0"/>
          </a:p>
          <a:p>
            <a:r>
              <a:rPr lang="zh-CN" altLang="en-US" dirty="0"/>
              <a:t>规则（</a:t>
            </a:r>
            <a:r>
              <a:rPr lang="en-US" altLang="zh-CN" dirty="0"/>
              <a:t>Rule）：</a:t>
            </a:r>
            <a:r>
              <a:rPr lang="zh-CN" altLang="en-US" dirty="0"/>
              <a:t>匹配条件 + 动作（</a:t>
            </a:r>
            <a:r>
              <a:rPr lang="en-US" altLang="zh-CN" dirty="0"/>
              <a:t>ACCEPT </a:t>
            </a:r>
            <a:r>
              <a:rPr lang="zh-CN" altLang="en-US" dirty="0"/>
              <a:t>放行、</a:t>
            </a:r>
            <a:r>
              <a:rPr lang="en-US" altLang="zh-CN" dirty="0"/>
              <a:t>DROP </a:t>
            </a:r>
            <a:r>
              <a:rPr lang="zh-CN" altLang="en-US" dirty="0"/>
              <a:t>丢弃、</a:t>
            </a:r>
            <a:r>
              <a:rPr lang="en-US" altLang="zh-CN" dirty="0"/>
              <a:t>LOG </a:t>
            </a:r>
            <a:r>
              <a:rPr lang="zh-CN" altLang="en-US" dirty="0"/>
              <a:t>记录日志）</a:t>
            </a:r>
            <a:endParaRPr lang="zh-CN" altLang="en-US" dirty="0"/>
          </a:p>
          <a:p>
            <a:r>
              <a:rPr lang="zh-CN" altLang="en-US" dirty="0"/>
              <a:t>在我们的项目中，所有 </a:t>
            </a:r>
            <a:r>
              <a:rPr lang="en-US" altLang="zh-CN" dirty="0"/>
              <a:t>ACL </a:t>
            </a:r>
            <a:r>
              <a:rPr lang="zh-CN" altLang="en-US" dirty="0"/>
              <a:t>规则都部署在 </a:t>
            </a:r>
            <a:r>
              <a:rPr lang="en-US" altLang="zh-CN" dirty="0"/>
              <a:t>r1 </a:t>
            </a:r>
            <a:r>
              <a:rPr lang="zh-CN" altLang="en-US" dirty="0"/>
              <a:t>的 </a:t>
            </a:r>
            <a:r>
              <a:rPr lang="en-US" altLang="zh-CN" dirty="0"/>
              <a:t>FORWARD </a:t>
            </a:r>
            <a:r>
              <a:rPr lang="zh-CN" altLang="en-US" dirty="0"/>
              <a:t>链上——因为 </a:t>
            </a:r>
            <a:r>
              <a:rPr lang="en-US" altLang="zh-CN" dirty="0"/>
              <a:t>r1 </a:t>
            </a:r>
            <a:r>
              <a:rPr lang="zh-CN" altLang="en-US" dirty="0"/>
              <a:t>是核心路由器，跨区域流量都经过它转发。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在部署策略之前，我们首先验证了整个拓扑的 </a:t>
            </a:r>
            <a:r>
              <a:rPr lang="en-US" altLang="zh-CN" dirty="0"/>
              <a:t>IP </a:t>
            </a:r>
            <a:r>
              <a:rPr lang="zh-CN" altLang="en-US" dirty="0"/>
              <a:t>层连通性。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我们测试了五条有代表性的路径。第一条 </a:t>
            </a:r>
            <a:r>
              <a:rPr lang="en-US" altLang="zh-CN" dirty="0"/>
              <a:t>dorm1 </a:t>
            </a:r>
            <a:r>
              <a:rPr lang="zh-CN" altLang="en-US" dirty="0"/>
              <a:t>到 </a:t>
            </a:r>
            <a:r>
              <a:rPr lang="en-US" altLang="zh-CN" dirty="0"/>
              <a:t>finance2——</a:t>
            </a:r>
            <a:r>
              <a:rPr lang="zh-CN" altLang="en-US" dirty="0"/>
              <a:t>宿舍到财务处——这个是 </a:t>
            </a:r>
            <a:r>
              <a:rPr lang="en-US" altLang="zh-CN" dirty="0"/>
              <a:t>ACL </a:t>
            </a:r>
            <a:r>
              <a:rPr lang="zh-CN" altLang="en-US" dirty="0"/>
              <a:t>黑名单规则要拦截的路径，</a:t>
            </a:r>
            <a:r>
              <a:rPr lang="en-US" altLang="zh-CN" dirty="0"/>
              <a:t>PING </a:t>
            </a:r>
            <a:r>
              <a:rPr lang="zh-CN" altLang="en-US" dirty="0"/>
              <a:t>不通，符合预期。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第二条 </a:t>
            </a:r>
            <a:r>
              <a:rPr lang="en-US" altLang="zh-CN" dirty="0"/>
              <a:t>office1 </a:t>
            </a:r>
            <a:r>
              <a:rPr lang="zh-CN" altLang="en-US" dirty="0"/>
              <a:t>到 </a:t>
            </a:r>
            <a:r>
              <a:rPr lang="en-US" altLang="zh-CN" dirty="0"/>
              <a:t>finance1，</a:t>
            </a:r>
            <a:r>
              <a:rPr lang="zh-CN" altLang="en-US" dirty="0"/>
              <a:t>这是白名单允许的路径，</a:t>
            </a:r>
            <a:r>
              <a:rPr lang="en-US" altLang="zh-CN" dirty="0"/>
              <a:t>PING </a:t>
            </a:r>
            <a:r>
              <a:rPr lang="zh-CN" altLang="en-US" dirty="0"/>
              <a:t>成功。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第三条同区域内部通，</a:t>
            </a:r>
            <a:r>
              <a:rPr lang="en-US" altLang="zh-CN" dirty="0"/>
              <a:t>dorm1 </a:t>
            </a:r>
            <a:r>
              <a:rPr lang="zh-CN" altLang="en-US" dirty="0"/>
              <a:t>到 </a:t>
            </a:r>
            <a:r>
              <a:rPr lang="en-US" altLang="zh-CN" dirty="0"/>
              <a:t>dorm2，PING </a:t>
            </a:r>
            <a:r>
              <a:rPr lang="zh-CN" altLang="en-US" dirty="0"/>
              <a:t>成功，验证了接入交换机和汇聚交换机的二层转发。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第四条和第五条是宿舍到两台服务器，都是通的，验证了双服务器链路的可达性。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这组测试说明：基础拓扑的路由表配置正确，三层交换机和核心路由器的转发路径跑通了，</a:t>
            </a:r>
            <a:r>
              <a:rPr lang="en-US" altLang="zh-CN" dirty="0"/>
              <a:t>ACL </a:t>
            </a:r>
            <a:r>
              <a:rPr lang="zh-CN" altLang="en-US" dirty="0"/>
              <a:t>白名单允许的路径正常通，黑名单能正确拦截。这为我们后续在正确的网络基础上部署策略提供了前提。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QoS </a:t>
            </a:r>
            <a:r>
              <a:rPr lang="zh-CN" altLang="en-US" dirty="0"/>
              <a:t>消融实验的设计思路是：在服务器出口链路上使用 </a:t>
            </a:r>
            <a:r>
              <a:rPr lang="en-US" altLang="zh-CN" dirty="0"/>
              <a:t>Linux </a:t>
            </a:r>
            <a:r>
              <a:rPr lang="zh-CN" altLang="en-US" dirty="0"/>
              <a:t>内核的 </a:t>
            </a:r>
            <a:r>
              <a:rPr lang="en-US" altLang="zh-CN" dirty="0"/>
              <a:t>HTB </a:t>
            </a:r>
            <a:r>
              <a:rPr lang="zh-CN" altLang="en-US" dirty="0"/>
              <a:t>队列调度，为财务处分配最高优先级 </a:t>
            </a:r>
            <a:r>
              <a:rPr lang="en-US" altLang="zh-CN" dirty="0"/>
              <a:t>prio=0，</a:t>
            </a:r>
            <a:r>
              <a:rPr lang="zh-CN" altLang="en-US" dirty="0"/>
              <a:t>保障带宽 12 </a:t>
            </a:r>
            <a:r>
              <a:rPr lang="en-US" altLang="zh-CN" dirty="0"/>
              <a:t>Mbps；</a:t>
            </a:r>
            <a:r>
              <a:rPr lang="zh-CN" altLang="en-US" dirty="0"/>
              <a:t>其他五个区域统一分配低优先级 </a:t>
            </a:r>
            <a:r>
              <a:rPr lang="en-US" altLang="zh-CN" dirty="0"/>
              <a:t>prio=7，</a:t>
            </a:r>
            <a:r>
              <a:rPr lang="zh-CN" altLang="en-US" dirty="0"/>
              <a:t>保障带宽各自 2 </a:t>
            </a:r>
            <a:r>
              <a:rPr lang="en-US" altLang="zh-CN" dirty="0"/>
              <a:t>Mbps。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HTB </a:t>
            </a:r>
            <a:r>
              <a:rPr lang="zh-CN" altLang="en-US" dirty="0"/>
              <a:t>的关键特性是：低优先级队列只有在高优先级队列的保障带宽得到满足之后，才能使用链路的剩余带宽。也就是说，当财务处需要带宽时，其他区域的流量会被抑制。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消融对比是 </a:t>
            </a:r>
            <a:r>
              <a:rPr lang="en-US" altLang="zh-CN" dirty="0"/>
              <a:t>Final </a:t>
            </a:r>
            <a:r>
              <a:rPr lang="zh-CN" altLang="en-US" dirty="0"/>
              <a:t>模型（有 </a:t>
            </a:r>
            <a:r>
              <a:rPr lang="en-US" altLang="zh-CN" dirty="0"/>
              <a:t>HTB）</a:t>
            </a:r>
            <a:r>
              <a:rPr lang="zh-CN" altLang="en-US" dirty="0"/>
              <a:t>和 </a:t>
            </a:r>
            <a:r>
              <a:rPr lang="en-US" altLang="zh-CN" dirty="0"/>
              <a:t>Final </a:t>
            </a:r>
            <a:r>
              <a:rPr lang="zh-CN" altLang="en-US" dirty="0"/>
              <a:t>消融 </a:t>
            </a:r>
            <a:r>
              <a:rPr lang="en-US" altLang="zh-CN" dirty="0"/>
              <a:t>HTB </a:t>
            </a:r>
            <a:r>
              <a:rPr lang="zh-CN" altLang="en-US" dirty="0"/>
              <a:t>模型（去掉 </a:t>
            </a:r>
            <a:r>
              <a:rPr lang="en-US" altLang="zh-CN" dirty="0"/>
              <a:t>HTB）。</a:t>
            </a:r>
            <a:r>
              <a:rPr lang="zh-CN" altLang="en-US" dirty="0"/>
              <a:t>我们在六个区域同时打 </a:t>
            </a:r>
            <a:r>
              <a:rPr lang="en-US" altLang="zh-CN" dirty="0"/>
              <a:t>iperf3 </a:t>
            </a:r>
            <a:r>
              <a:rPr lang="zh-CN" altLang="en-US" dirty="0"/>
              <a:t>流量，测量财务处的四维指标——吞吐量、时延、抖动和丢包率。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以右侧核心结果为例：开启 </a:t>
            </a:r>
            <a:r>
              <a:rPr lang="en-US" altLang="zh-CN" dirty="0"/>
              <a:t>HTB </a:t>
            </a:r>
            <a:r>
              <a:rPr lang="zh-CN" altLang="en-US" dirty="0"/>
              <a:t>后，财务处 </a:t>
            </a:r>
            <a:r>
              <a:rPr lang="en-US" altLang="zh-CN" dirty="0"/>
              <a:t>TCP </a:t>
            </a:r>
            <a:r>
              <a:rPr lang="zh-CN" altLang="en-US" dirty="0"/>
              <a:t>吞吐量从消融组的 </a:t>
            </a:r>
            <a:r>
              <a:rPr lang="en-US" altLang="zh-CN" dirty="0"/>
              <a:t>11.45Mbps </a:t>
            </a:r>
            <a:r>
              <a:rPr lang="zh-CN" altLang="en-US" dirty="0"/>
              <a:t>提升到 1</a:t>
            </a:r>
            <a:r>
              <a:rPr lang="en-US" altLang="zh-CN" dirty="0"/>
              <a:t>5.87</a:t>
            </a:r>
            <a:r>
              <a:rPr lang="zh-CN" altLang="en-US" dirty="0"/>
              <a:t> </a:t>
            </a:r>
            <a:r>
              <a:rPr lang="en-US" altLang="zh-CN" dirty="0"/>
              <a:t>Mbps</a:t>
            </a:r>
            <a:r>
              <a:rPr lang="zh-CN" altLang="en-US" dirty="0"/>
              <a:t>，抖动从</a:t>
            </a:r>
            <a:r>
              <a:rPr lang="en-US" altLang="zh-CN" dirty="0"/>
              <a:t>1.76ms </a:t>
            </a:r>
            <a:r>
              <a:rPr lang="zh-CN" altLang="en-US" dirty="0"/>
              <a:t>下降至</a:t>
            </a:r>
            <a:r>
              <a:rPr lang="en-US" altLang="zh-CN" dirty="0"/>
              <a:t>0.36ms</a:t>
            </a:r>
            <a:r>
              <a:rPr lang="zh-CN" altLang="en-US" dirty="0"/>
              <a:t>；丢包率保持</a:t>
            </a:r>
            <a:r>
              <a:rPr lang="en-US" altLang="zh-CN" dirty="0"/>
              <a:t>0</a:t>
            </a:r>
            <a:r>
              <a:rPr lang="zh-CN" altLang="en-US" dirty="0"/>
              <a:t>丢包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负载均衡实验的场景是：多台客户端向两台服务器发起 </a:t>
            </a:r>
            <a:r>
              <a:rPr lang="en-US" altLang="zh-CN" dirty="0"/>
              <a:t>iperf3</a:t>
            </a:r>
            <a:r>
              <a:rPr lang="zh-CN" altLang="en-US" dirty="0"/>
              <a:t>（网络性能测量工具，生成可控流量）</a:t>
            </a:r>
            <a:r>
              <a:rPr lang="en-US" altLang="zh-CN" dirty="0"/>
              <a:t> </a:t>
            </a:r>
            <a:r>
              <a:rPr lang="zh-CN" altLang="en-US" dirty="0"/>
              <a:t>下载请求，每台服务器的上行链路只有 20 </a:t>
            </a:r>
            <a:r>
              <a:rPr lang="en-US" altLang="zh-CN" dirty="0"/>
              <a:t>Mbps。</a:t>
            </a:r>
            <a:r>
              <a:rPr lang="zh-CN" altLang="en-US" dirty="0"/>
              <a:t>如果不做负载均衡，客户端可能会集中连接一台服务器，导致一边过载、另一边闲置。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我们实现了一个 </a:t>
            </a:r>
            <a:r>
              <a:rPr lang="en-US" altLang="zh-CN" dirty="0"/>
              <a:t>Python </a:t>
            </a:r>
            <a:r>
              <a:rPr lang="zh-CN" altLang="en-US" dirty="0"/>
              <a:t>层的 </a:t>
            </a:r>
            <a:r>
              <a:rPr lang="en-US" altLang="zh-CN" dirty="0"/>
              <a:t>Round Robin </a:t>
            </a:r>
            <a:r>
              <a:rPr lang="zh-CN" altLang="en-US" dirty="0"/>
              <a:t>调度器，用 </a:t>
            </a:r>
            <a:r>
              <a:rPr lang="en-US" altLang="zh-CN" dirty="0"/>
              <a:t>threading.Lock </a:t>
            </a:r>
            <a:r>
              <a:rPr lang="zh-CN" altLang="en-US" dirty="0"/>
              <a:t>保证线程安全——每个请求到来时轮流转发到 </a:t>
            </a:r>
            <a:r>
              <a:rPr lang="en-US" altLang="zh-CN" dirty="0"/>
              <a:t>S1 </a:t>
            </a:r>
            <a:r>
              <a:rPr lang="zh-CN" altLang="en-US" dirty="0"/>
              <a:t>和 </a:t>
            </a:r>
            <a:r>
              <a:rPr lang="en-US" altLang="zh-CN" dirty="0"/>
              <a:t>S2。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消融对比是 </a:t>
            </a:r>
            <a:r>
              <a:rPr lang="en-US" altLang="zh-CN" dirty="0"/>
              <a:t>Final </a:t>
            </a:r>
            <a:r>
              <a:rPr lang="zh-CN" altLang="en-US" dirty="0"/>
              <a:t>模型（</a:t>
            </a:r>
            <a:r>
              <a:rPr lang="en-US" altLang="zh-CN" dirty="0"/>
              <a:t>Round Robin）</a:t>
            </a:r>
            <a:r>
              <a:rPr lang="zh-CN" altLang="en-US" dirty="0"/>
              <a:t>和 </a:t>
            </a:r>
            <a:r>
              <a:rPr lang="en-US" altLang="zh-CN" dirty="0"/>
              <a:t>Final </a:t>
            </a:r>
            <a:r>
              <a:rPr lang="zh-CN" altLang="en-US" dirty="0"/>
              <a:t>消融 </a:t>
            </a:r>
            <a:r>
              <a:rPr lang="en-US" altLang="zh-CN" dirty="0"/>
              <a:t>LB </a:t>
            </a:r>
            <a:r>
              <a:rPr lang="zh-CN" altLang="en-US" dirty="0"/>
              <a:t>模型（去掉调度器，客户端静态绑定服务器）。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以场景 </a:t>
            </a:r>
            <a:r>
              <a:rPr lang="en-US" altLang="zh-CN" dirty="0"/>
              <a:t>B </a:t>
            </a:r>
            <a:r>
              <a:rPr lang="zh-CN" altLang="en-US" dirty="0"/>
              <a:t>的数据为例：去掉 </a:t>
            </a:r>
            <a:r>
              <a:rPr lang="en-US" altLang="zh-CN" dirty="0"/>
              <a:t>LB </a:t>
            </a:r>
            <a:r>
              <a:rPr lang="zh-CN" altLang="en-US" dirty="0"/>
              <a:t>后，</a:t>
            </a:r>
            <a:r>
              <a:rPr lang="en-US" altLang="zh-CN" dirty="0"/>
              <a:t>S1 </a:t>
            </a:r>
            <a:r>
              <a:rPr lang="zh-CN" altLang="en-US" dirty="0"/>
              <a:t>利用率达到 87.2%，</a:t>
            </a:r>
            <a:r>
              <a:rPr lang="en-US" altLang="zh-CN" dirty="0"/>
              <a:t>S2 </a:t>
            </a:r>
            <a:r>
              <a:rPr lang="zh-CN" altLang="en-US" dirty="0"/>
              <a:t>只有 47.0%，负载方差高达 405，严重不均衡，</a:t>
            </a:r>
            <a:r>
              <a:rPr lang="en-US" altLang="zh-CN" dirty="0"/>
              <a:t>Jain </a:t>
            </a:r>
            <a:r>
              <a:rPr lang="zh-CN" altLang="en-US" dirty="0"/>
              <a:t>公平指数仅 0.92。开启 </a:t>
            </a:r>
            <a:r>
              <a:rPr lang="en-US" altLang="zh-CN" dirty="0"/>
              <a:t>Round Robin </a:t>
            </a:r>
            <a:r>
              <a:rPr lang="zh-CN" altLang="en-US" dirty="0"/>
              <a:t>后，</a:t>
            </a:r>
            <a:r>
              <a:rPr lang="en-US" altLang="zh-CN" dirty="0"/>
              <a:t>S1 </a:t>
            </a:r>
            <a:r>
              <a:rPr lang="zh-CN" altLang="en-US" dirty="0"/>
              <a:t>利用率 70.0%，</a:t>
            </a:r>
            <a:r>
              <a:rPr lang="en-US" altLang="zh-CN" dirty="0"/>
              <a:t>S2 </a:t>
            </a:r>
            <a:r>
              <a:rPr lang="zh-CN" altLang="en-US" dirty="0"/>
              <a:t>利用率 66.8%，负载方差骤降到 2.53，</a:t>
            </a:r>
            <a:r>
              <a:rPr lang="en-US" altLang="zh-CN" dirty="0"/>
              <a:t>Jain </a:t>
            </a:r>
            <a:r>
              <a:rPr lang="zh-CN" altLang="en-US" dirty="0"/>
              <a:t>公平指数达到 0.9995，非常接近理论最优值 1.0。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从平均响应时间来看，</a:t>
            </a:r>
            <a:r>
              <a:rPr lang="en-US" altLang="zh-CN" dirty="0"/>
              <a:t>Round Robin </a:t>
            </a:r>
            <a:r>
              <a:rPr lang="zh-CN" altLang="en-US" dirty="0"/>
              <a:t>模式下每个请求平均只需要 4.7 秒，而静态绑定模式下要 8.0 秒。这说明均衡分配不仅提高了公平性，也直接改善了用户体验。核心结论是：</a:t>
            </a:r>
            <a:r>
              <a:rPr lang="en-US" altLang="zh-CN" dirty="0"/>
              <a:t>Round Robin </a:t>
            </a:r>
            <a:r>
              <a:rPr lang="zh-CN" altLang="en-US" dirty="0"/>
              <a:t>调度可以有效提高双服务器系统的资源利用效率，消除单点过载。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安全策略消融实验涵盖三个维度：</a:t>
            </a:r>
            <a:r>
              <a:rPr lang="en-US" altLang="zh-CN" dirty="0"/>
              <a:t>FLOOD </a:t>
            </a:r>
            <a:r>
              <a:rPr lang="zh-CN" altLang="en-US" dirty="0"/>
              <a:t>入侵检测、、以及 </a:t>
            </a:r>
            <a:r>
              <a:rPr lang="en-US" altLang="zh-CN" dirty="0"/>
              <a:t>SQLite </a:t>
            </a:r>
            <a:r>
              <a:rPr lang="zh-CN" altLang="en-US" dirty="0"/>
              <a:t>审计持久化存储。</a:t>
            </a:r>
            <a:endParaRPr lang="zh-CN" altLang="en-US" dirty="0"/>
          </a:p>
          <a:p>
            <a:endParaRPr lang="en-US" altLang="zh-CN" dirty="0"/>
          </a:p>
          <a:p>
            <a:r>
              <a:rPr lang="en-US" altLang="zh-CN" dirty="0"/>
              <a:t>ICMP Flood </a:t>
            </a:r>
            <a:r>
              <a:rPr lang="zh-CN" altLang="en-US" dirty="0"/>
              <a:t>防护使用 </a:t>
            </a:r>
            <a:r>
              <a:rPr lang="en-US" altLang="zh-CN" dirty="0"/>
              <a:t>iptables limit </a:t>
            </a:r>
            <a:r>
              <a:rPr lang="zh-CN" altLang="en-US" dirty="0"/>
              <a:t>模块限速 1 个包每秒——40 个 </a:t>
            </a:r>
            <a:r>
              <a:rPr lang="en-US" altLang="zh-CN" dirty="0"/>
              <a:t>ICMP </a:t>
            </a:r>
            <a:r>
              <a:rPr lang="zh-CN" altLang="en-US" dirty="0"/>
              <a:t>包只有约 5 个通过，防护效果明显。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端口扫描检测使用 10 秒滑动窗口，阈值 20 个端口，触发后自动封禁 300 秒。消融实验中扫描 30 个端口，有安全模块的组成功在第 20 端口处触发封禁，后续端口扫描全部失败。</a:t>
            </a:r>
            <a:endParaRPr lang="zh-CN" altLang="en-US" dirty="0"/>
          </a:p>
          <a:p>
            <a:endParaRPr lang="en-US" altLang="zh-CN" dirty="0"/>
          </a:p>
          <a:p>
            <a:r>
              <a:rPr lang="en-US" altLang="zh-CN" dirty="0"/>
              <a:t>SQLite </a:t>
            </a:r>
            <a:r>
              <a:rPr lang="zh-CN" altLang="en-US" dirty="0"/>
              <a:t>审计数据库记录了所有 </a:t>
            </a:r>
            <a:r>
              <a:rPr lang="en-US" altLang="zh-CN" dirty="0"/>
              <a:t>FLOOD、PORT_SCAN </a:t>
            </a:r>
            <a:r>
              <a:rPr lang="zh-CN" altLang="en-US" dirty="0"/>
              <a:t>和 </a:t>
            </a:r>
            <a:r>
              <a:rPr lang="en-US" altLang="zh-CN" dirty="0"/>
              <a:t>BAN </a:t>
            </a:r>
            <a:r>
              <a:rPr lang="zh-CN" altLang="en-US" dirty="0"/>
              <a:t>事件，实验组共生成 </a:t>
            </a:r>
            <a:r>
              <a:rPr lang="en-US" altLang="zh-CN" dirty="0"/>
              <a:t>3</a:t>
            </a:r>
            <a:r>
              <a:rPr lang="zh-CN" altLang="en-US" dirty="0"/>
              <a:t>条事件记录，</a:t>
            </a:r>
            <a:r>
              <a:rPr lang="zh-CN" altLang="en-US" dirty="0"/>
              <a:t>为系统运行状态分析和后续故障排查提供依据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最后展示 </a:t>
            </a:r>
            <a:r>
              <a:rPr lang="en-US" altLang="zh-CN" dirty="0"/>
              <a:t>VPN </a:t>
            </a:r>
            <a:r>
              <a:rPr lang="zh-CN" altLang="en-US" dirty="0"/>
              <a:t>远程接入功能。我们在一台模拟家庭用户的 </a:t>
            </a:r>
            <a:r>
              <a:rPr lang="en-US" altLang="zh-CN" dirty="0"/>
              <a:t>home_pc </a:t>
            </a:r>
            <a:r>
              <a:rPr lang="zh-CN" altLang="en-US" dirty="0"/>
              <a:t>上配置了 </a:t>
            </a:r>
            <a:r>
              <a:rPr lang="en-US" altLang="zh-CN" dirty="0"/>
              <a:t>WireGuard </a:t>
            </a:r>
            <a:r>
              <a:rPr lang="zh-CN" altLang="en-US" dirty="0"/>
              <a:t>隧道，通过公网接入校园网。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我们采用了两层 </a:t>
            </a:r>
            <a:r>
              <a:rPr lang="en-US" altLang="zh-CN" dirty="0"/>
              <a:t>ACL </a:t>
            </a:r>
            <a:r>
              <a:rPr lang="zh-CN" altLang="en-US" dirty="0"/>
              <a:t>的安全设计。第一层是外部隔离：</a:t>
            </a:r>
            <a:r>
              <a:rPr lang="en-US" altLang="zh-CN" dirty="0"/>
              <a:t>VPN </a:t>
            </a:r>
            <a:r>
              <a:rPr lang="zh-CN" altLang="en-US" dirty="0"/>
              <a:t>关闭时，</a:t>
            </a:r>
            <a:r>
              <a:rPr lang="en-US" altLang="zh-CN" dirty="0"/>
              <a:t>home_pc </a:t>
            </a:r>
            <a:r>
              <a:rPr lang="zh-CN" altLang="en-US" dirty="0"/>
              <a:t>的物理 </a:t>
            </a:r>
            <a:r>
              <a:rPr lang="en-US" altLang="zh-CN" dirty="0"/>
              <a:t>IP 192.168.100.10 </a:t>
            </a:r>
            <a:r>
              <a:rPr lang="zh-CN" altLang="en-US" dirty="0"/>
              <a:t>在 </a:t>
            </a:r>
            <a:r>
              <a:rPr lang="en-US" altLang="zh-CN" dirty="0"/>
              <a:t>r1 </a:t>
            </a:r>
            <a:r>
              <a:rPr lang="zh-CN" altLang="en-US" dirty="0"/>
              <a:t>的 </a:t>
            </a:r>
            <a:r>
              <a:rPr lang="en-US" altLang="zh-CN" dirty="0"/>
              <a:t>FORWARD </a:t>
            </a:r>
            <a:r>
              <a:rPr lang="zh-CN" altLang="en-US" dirty="0"/>
              <a:t>链被全局 </a:t>
            </a:r>
            <a:r>
              <a:rPr lang="en-US" altLang="zh-CN" dirty="0"/>
              <a:t>DROP，</a:t>
            </a:r>
            <a:r>
              <a:rPr lang="zh-CN" altLang="en-US" dirty="0"/>
              <a:t>不能访问任何校内资源。第二层是校内 </a:t>
            </a:r>
            <a:r>
              <a:rPr lang="en-US" altLang="zh-CN" dirty="0"/>
              <a:t>ACL：VPN </a:t>
            </a:r>
            <a:r>
              <a:rPr lang="zh-CN" altLang="en-US" dirty="0"/>
              <a:t>建立后，隧道流量通过 </a:t>
            </a:r>
            <a:r>
              <a:rPr lang="en-US" altLang="zh-CN" dirty="0"/>
              <a:t>wg0(wg0 </a:t>
            </a:r>
            <a:r>
              <a:rPr lang="zh-CN" altLang="en-US" dirty="0"/>
              <a:t>是 </a:t>
            </a:r>
            <a:r>
              <a:rPr lang="en-US" altLang="zh-CN" dirty="0"/>
              <a:t>WireGuard VPN </a:t>
            </a:r>
            <a:r>
              <a:rPr lang="zh-CN" altLang="en-US" dirty="0"/>
              <a:t>的虚拟网络接口。</a:t>
            </a:r>
            <a:r>
              <a:rPr lang="en-US" altLang="zh-CN" dirty="0"/>
              <a:t>) </a:t>
            </a:r>
            <a:r>
              <a:rPr lang="zh-CN" altLang="en-US" dirty="0"/>
              <a:t>虚拟接口进入校园网，源地址变为 10.0.80.10，此时仍然不能访问财务处和人事处这两个敏感区域，但可以正常访问宿舍、教学、图书馆、办公等普通区域。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在 </a:t>
            </a:r>
            <a:r>
              <a:rPr lang="en-US" altLang="zh-CN" dirty="0"/>
              <a:t>PPT </a:t>
            </a:r>
            <a:r>
              <a:rPr lang="zh-CN" altLang="en-US" dirty="0"/>
              <a:t>的截图中可以看到：</a:t>
            </a:r>
            <a:r>
              <a:rPr lang="en-US" altLang="zh-CN" dirty="0"/>
              <a:t>VPN </a:t>
            </a:r>
            <a:r>
              <a:rPr lang="zh-CN" altLang="en-US" dirty="0"/>
              <a:t>关闭时，</a:t>
            </a:r>
            <a:r>
              <a:rPr lang="en-US" altLang="zh-CN" dirty="0"/>
              <a:t>home_pc </a:t>
            </a:r>
            <a:r>
              <a:rPr lang="zh-CN" altLang="en-US" dirty="0"/>
              <a:t>的 </a:t>
            </a:r>
            <a:r>
              <a:rPr lang="en-US" altLang="zh-CN" dirty="0"/>
              <a:t>PING </a:t>
            </a:r>
            <a:r>
              <a:rPr lang="zh-CN" altLang="en-US" dirty="0"/>
              <a:t>全部不通；开启 </a:t>
            </a:r>
            <a:r>
              <a:rPr lang="en-US" altLang="zh-CN" dirty="0"/>
              <a:t>VPN </a:t>
            </a:r>
            <a:r>
              <a:rPr lang="zh-CN" altLang="en-US" dirty="0"/>
              <a:t>后，</a:t>
            </a:r>
            <a:r>
              <a:rPr lang="en-US" altLang="zh-CN" dirty="0"/>
              <a:t>PING </a:t>
            </a:r>
            <a:r>
              <a:rPr lang="zh-CN" altLang="en-US" dirty="0"/>
              <a:t>普通区域成功但 </a:t>
            </a:r>
            <a:r>
              <a:rPr lang="en-US" altLang="zh-CN" dirty="0"/>
              <a:t>PING </a:t>
            </a:r>
            <a:r>
              <a:rPr lang="zh-CN" altLang="en-US" dirty="0"/>
              <a:t>财务处仍然被 </a:t>
            </a:r>
            <a:r>
              <a:rPr lang="en-US" altLang="zh-CN" dirty="0"/>
              <a:t>iptables </a:t>
            </a:r>
            <a:r>
              <a:rPr lang="zh-CN" altLang="en-US" dirty="0"/>
              <a:t>拦截。这验证了两层 </a:t>
            </a:r>
            <a:r>
              <a:rPr lang="en-US" altLang="zh-CN" dirty="0"/>
              <a:t>ACL </a:t>
            </a:r>
            <a:r>
              <a:rPr lang="zh-CN" altLang="en-US" dirty="0"/>
              <a:t>体系在真实网络流量中的有效拦截效果。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技术细节：步骤 1：建立 </a:t>
            </a:r>
            <a:r>
              <a:rPr lang="en-US" altLang="zh-CN" dirty="0"/>
              <a:t>WireGuard </a:t>
            </a:r>
            <a:r>
              <a:rPr lang="zh-CN" altLang="en-US" dirty="0"/>
              <a:t>隧道</a:t>
            </a:r>
            <a:endParaRPr lang="zh-CN" altLang="en-US" dirty="0"/>
          </a:p>
          <a:p>
            <a:r>
              <a:rPr lang="en-US" altLang="zh-CN" dirty="0"/>
              <a:t>[VPN] </a:t>
            </a:r>
            <a:r>
              <a:rPr lang="zh-CN" altLang="en-US" dirty="0"/>
              <a:t>使用真实 </a:t>
            </a:r>
            <a:r>
              <a:rPr lang="en-US" altLang="zh-CN" dirty="0"/>
              <a:t>WireGuard </a:t>
            </a:r>
            <a:r>
              <a:rPr lang="zh-CN" altLang="en-US" dirty="0"/>
              <a:t>隧道模式...</a:t>
            </a:r>
            <a:endParaRPr lang="zh-CN" altLang="en-US" dirty="0"/>
          </a:p>
          <a:p>
            <a:r>
              <a:rPr lang="en-US" altLang="zh-CN" dirty="0"/>
              <a:t>[VPN] </a:t>
            </a:r>
            <a:r>
              <a:rPr lang="zh-CN" altLang="en-US" dirty="0"/>
              <a:t>建立 </a:t>
            </a:r>
            <a:r>
              <a:rPr lang="en-US" altLang="zh-CN" dirty="0"/>
              <a:t>VPN </a:t>
            </a:r>
            <a:r>
              <a:rPr lang="zh-CN" altLang="en-US" dirty="0"/>
              <a:t>隧道 (</a:t>
            </a:r>
            <a:r>
              <a:rPr lang="en-US" altLang="zh-CN" dirty="0"/>
              <a:t>home_pc)...</a:t>
            </a:r>
            <a:endParaRPr lang="en-US" altLang="zh-CN" dirty="0"/>
          </a:p>
          <a:p>
            <a:r>
              <a:rPr lang="en-US" altLang="zh-CN" dirty="0"/>
              <a:t>[VPN] </a:t>
            </a:r>
            <a:r>
              <a:rPr lang="zh-CN" altLang="en-US" dirty="0"/>
              <a:t>客户端密钥已生成</a:t>
            </a:r>
            <a:endParaRPr lang="zh-CN" altLang="en-US" dirty="0"/>
          </a:p>
          <a:p>
            <a:r>
              <a:rPr lang="en-US" altLang="zh-CN" dirty="0"/>
              <a:t>[VPN] </a:t>
            </a:r>
            <a:r>
              <a:rPr lang="zh-CN" altLang="en-US" dirty="0"/>
              <a:t>隧道已建立!</a:t>
            </a:r>
            <a:endParaRPr lang="zh-CN" altLang="en-US" dirty="0"/>
          </a:p>
          <a:p>
            <a:r>
              <a:rPr lang="zh-CN" altLang="en-US" dirty="0"/>
              <a:t>技术动作：</a:t>
            </a:r>
            <a:endParaRPr lang="zh-CN" altLang="en-US" dirty="0"/>
          </a:p>
          <a:p>
            <a:endParaRPr lang="en-US" altLang="zh-CN" dirty="0"/>
          </a:p>
          <a:p>
            <a:r>
              <a:rPr lang="en-US" altLang="zh-CN" dirty="0"/>
              <a:t>r1（</a:t>
            </a:r>
            <a:r>
              <a:rPr lang="zh-CN" altLang="en-US" dirty="0"/>
              <a:t>服务端）：创建 </a:t>
            </a:r>
            <a:r>
              <a:rPr lang="en-US" altLang="zh-CN" dirty="0"/>
              <a:t>wg0 </a:t>
            </a:r>
            <a:r>
              <a:rPr lang="zh-CN" altLang="en-US" dirty="0"/>
              <a:t>接口，分配 </a:t>
            </a:r>
            <a:r>
              <a:rPr lang="en-US" altLang="zh-CN" dirty="0"/>
              <a:t>IP 10.0.80.1/24，</a:t>
            </a:r>
            <a:r>
              <a:rPr lang="zh-CN" altLang="en-US" dirty="0"/>
              <a:t>监听 </a:t>
            </a:r>
            <a:r>
              <a:rPr lang="en-US" altLang="zh-CN" dirty="0"/>
              <a:t>UDP 51820</a:t>
            </a:r>
            <a:endParaRPr lang="en-US" altLang="zh-CN" dirty="0"/>
          </a:p>
          <a:p>
            <a:r>
              <a:rPr lang="en-US" altLang="zh-CN" dirty="0"/>
              <a:t>home_pc（</a:t>
            </a:r>
            <a:r>
              <a:rPr lang="zh-CN" altLang="en-US" dirty="0"/>
              <a:t>客户端）：创建 </a:t>
            </a:r>
            <a:r>
              <a:rPr lang="en-US" altLang="zh-CN" dirty="0"/>
              <a:t>wg0 </a:t>
            </a:r>
            <a:r>
              <a:rPr lang="zh-CN" altLang="en-US" dirty="0"/>
              <a:t>接口，分配 </a:t>
            </a:r>
            <a:r>
              <a:rPr lang="en-US" altLang="zh-CN" dirty="0"/>
              <a:t>IP 10.0.80.10/24</a:t>
            </a:r>
            <a:endParaRPr lang="en-US" altLang="zh-CN" dirty="0"/>
          </a:p>
          <a:p>
            <a:r>
              <a:rPr lang="zh-CN" altLang="en-US" dirty="0"/>
              <a:t>双方交换公钥，建立加密隧道</a:t>
            </a:r>
            <a:endParaRPr lang="zh-CN" altLang="en-US" dirty="0"/>
          </a:p>
          <a:p>
            <a:r>
              <a:rPr lang="zh-CN" altLang="en-US" dirty="0"/>
              <a:t>步骤 2：密钥交换验证</a:t>
            </a:r>
            <a:endParaRPr lang="zh-CN" altLang="en-US" dirty="0"/>
          </a:p>
          <a:p>
            <a:r>
              <a:rPr lang="zh-CN" altLang="en-US" dirty="0"/>
              <a:t>截图中的 </a:t>
            </a:r>
            <a:r>
              <a:rPr lang="en-US" altLang="zh-CN" dirty="0"/>
              <a:t>wg show </a:t>
            </a:r>
            <a:r>
              <a:rPr lang="zh-CN" altLang="en-US" dirty="0"/>
              <a:t>输出：</a:t>
            </a:r>
            <a:endParaRPr lang="zh-CN" altLang="en-US" dirty="0"/>
          </a:p>
          <a:p>
            <a:endParaRPr lang="en-US" altLang="zh-CN" dirty="0"/>
          </a:p>
          <a:p>
            <a:r>
              <a:rPr lang="en-US" altLang="zh-CN" dirty="0"/>
              <a:t>r1 </a:t>
            </a:r>
            <a:r>
              <a:rPr lang="zh-CN" altLang="en-US" dirty="0"/>
              <a:t>上的 </a:t>
            </a:r>
            <a:r>
              <a:rPr lang="en-US" altLang="zh-CN" dirty="0"/>
              <a:t>peer（</a:t>
            </a:r>
            <a:r>
              <a:rPr lang="zh-CN" altLang="en-US" dirty="0"/>
              <a:t>对端）:</a:t>
            </a:r>
            <a:endParaRPr lang="zh-CN" altLang="en-US" dirty="0"/>
          </a:p>
          <a:p>
            <a:r>
              <a:rPr lang="en-US" altLang="zh-CN" dirty="0"/>
              <a:t>  public key: evS5SWyyRKIH8SHuhEiHZxG4TXwiPEypwiyVwvNqSwE=  &lt;- home_pc </a:t>
            </a:r>
            <a:r>
              <a:rPr lang="zh-CN" altLang="en-US" dirty="0"/>
              <a:t>的公钥</a:t>
            </a:r>
            <a:endParaRPr lang="zh-CN" altLang="en-US" dirty="0"/>
          </a:p>
          <a:p>
            <a:r>
              <a:rPr lang="en-US" altLang="zh-CN" dirty="0"/>
              <a:t>  endpoint: 192.168.10.10:39381                          &lt;- home_pc </a:t>
            </a:r>
            <a:r>
              <a:rPr lang="zh-CN" altLang="en-US" dirty="0"/>
              <a:t>物理地址</a:t>
            </a:r>
            <a:endParaRPr lang="zh-CN" altLang="en-US" dirty="0"/>
          </a:p>
          <a:p>
            <a:r>
              <a:rPr lang="en-US" altLang="zh-CN" dirty="0"/>
              <a:t>  allowed ips: 10.0.80.10/32                             &lt;- </a:t>
            </a:r>
            <a:r>
              <a:rPr lang="zh-CN" altLang="en-US" dirty="0"/>
              <a:t>允许该公钥的流量源</a:t>
            </a:r>
            <a:r>
              <a:rPr lang="en-US" altLang="zh-CN" dirty="0"/>
              <a:t>IP</a:t>
            </a:r>
            <a:endParaRPr lang="en-US" altLang="zh-CN" dirty="0"/>
          </a:p>
          <a:p>
            <a:r>
              <a:rPr lang="en-US" altLang="zh-CN" dirty="0"/>
              <a:t>  transfer: 180 B received, 92 B sent                    &lt;- </a:t>
            </a:r>
            <a:r>
              <a:rPr lang="zh-CN" altLang="en-US" dirty="0"/>
              <a:t>已有数据交换</a:t>
            </a:r>
            <a:endParaRPr lang="zh-CN" altLang="en-US" dirty="0"/>
          </a:p>
          <a:p>
            <a:r>
              <a:rPr lang="zh-CN" altLang="en-US" dirty="0"/>
              <a:t>这说明隧道已双向打通，加密通道正常工作。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步骤 3：应用两层 </a:t>
            </a:r>
            <a:r>
              <a:rPr lang="en-US" altLang="zh-CN" dirty="0"/>
              <a:t>ACL</a:t>
            </a:r>
            <a:endParaRPr lang="en-US" altLang="zh-CN" dirty="0"/>
          </a:p>
          <a:p>
            <a:r>
              <a:rPr lang="en-US" altLang="zh-CN" dirty="0"/>
              <a:t>[ACL] [REAL_VPN] </a:t>
            </a:r>
            <a:r>
              <a:rPr lang="zh-CN" altLang="en-US" dirty="0"/>
              <a:t>应用 </a:t>
            </a:r>
            <a:r>
              <a:rPr lang="en-US" altLang="zh-CN" dirty="0"/>
              <a:t>VPN </a:t>
            </a:r>
            <a:r>
              <a:rPr lang="zh-CN" altLang="en-US" dirty="0"/>
              <a:t>用户 </a:t>
            </a:r>
            <a:r>
              <a:rPr lang="en-US" altLang="zh-CN" dirty="0"/>
              <a:t>ACL </a:t>
            </a:r>
            <a:r>
              <a:rPr lang="zh-CN" altLang="en-US" dirty="0"/>
              <a:t>规则...</a:t>
            </a:r>
            <a:endParaRPr lang="zh-CN" altLang="en-US" dirty="0"/>
          </a:p>
          <a:p>
            <a:r>
              <a:rPr lang="en-US" altLang="zh-CN" dirty="0"/>
              <a:t>  [ACL] </a:t>
            </a:r>
            <a:r>
              <a:rPr lang="zh-CN" altLang="en-US" dirty="0"/>
              <a:t>匹配条件: -</a:t>
            </a:r>
            <a:r>
              <a:rPr lang="en-US" altLang="zh-CN" dirty="0"/>
              <a:t>i wg0 </a:t>
            </a:r>
            <a:r>
              <a:rPr lang="zh-CN" altLang="en-US" dirty="0"/>
              <a:t>或 -</a:t>
            </a:r>
            <a:r>
              <a:rPr lang="en-US" altLang="zh-CN" dirty="0"/>
              <a:t>s 10.0.80.0/24</a:t>
            </a:r>
            <a:endParaRPr lang="en-US" altLang="zh-CN" dirty="0"/>
          </a:p>
          <a:p>
            <a:r>
              <a:rPr lang="en-US" altLang="zh-CN" dirty="0"/>
              <a:t>  [-] VPN </a:t>
            </a:r>
            <a:r>
              <a:rPr lang="zh-CN" altLang="en-US" dirty="0"/>
              <a:t>用户 (10.0.80.0/24): 禁止访问财务处/人事处</a:t>
            </a:r>
            <a:endParaRPr lang="zh-CN" altLang="en-US" dirty="0"/>
          </a:p>
          <a:p>
            <a:r>
              <a:rPr lang="en-US" altLang="zh-CN" dirty="0"/>
              <a:t>  [+] VPN </a:t>
            </a:r>
            <a:r>
              <a:rPr lang="zh-CN" altLang="en-US" dirty="0"/>
              <a:t>用户 (10.0.80.0/24): 允许访问普通区域</a:t>
            </a:r>
            <a:endParaRPr lang="zh-CN" altLang="en-US" dirty="0"/>
          </a:p>
          <a:p>
            <a:r>
              <a:rPr lang="zh-CN" altLang="en-US" dirty="0"/>
              <a:t>技术动作：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删除外部隔离规则（192.168.100.10 -</a:t>
            </a:r>
            <a:r>
              <a:rPr lang="en-US" altLang="zh-CN" dirty="0"/>
              <a:t>j DROP）</a:t>
            </a:r>
            <a:endParaRPr lang="en-US" altLang="zh-CN" dirty="0"/>
          </a:p>
          <a:p>
            <a:r>
              <a:rPr lang="zh-CN" altLang="en-US" dirty="0"/>
              <a:t>添加 </a:t>
            </a:r>
            <a:r>
              <a:rPr lang="en-US" altLang="zh-CN" dirty="0"/>
              <a:t>VPN ACL </a:t>
            </a:r>
            <a:r>
              <a:rPr lang="zh-CN" altLang="en-US" dirty="0"/>
              <a:t>规则：-</a:t>
            </a:r>
            <a:r>
              <a:rPr lang="en-US" altLang="zh-CN" dirty="0"/>
              <a:t>i wg0 -d 10.0.35.0/26 -j DROP（</a:t>
            </a:r>
            <a:r>
              <a:rPr lang="zh-CN" altLang="en-US" dirty="0"/>
              <a:t>禁止访问财务处）</a:t>
            </a:r>
            <a:endParaRPr lang="zh-CN" altLang="en-US" dirty="0"/>
          </a:p>
          <a:p>
            <a:r>
              <a:rPr lang="zh-CN" altLang="en-US" dirty="0"/>
              <a:t>添加放行规则：-</a:t>
            </a:r>
            <a:r>
              <a:rPr lang="en-US" altLang="zh-CN" dirty="0"/>
              <a:t>i wg0 -j ACCEPT（</a:t>
            </a:r>
            <a:r>
              <a:rPr lang="zh-CN" altLang="en-US" dirty="0"/>
              <a:t>允许访问其他区域）</a:t>
            </a:r>
            <a:endParaRPr lang="zh-CN" altLang="en-US" dirty="0"/>
          </a:p>
          <a:p>
            <a:r>
              <a:rPr lang="zh-CN" altLang="en-US" dirty="0"/>
              <a:t>步骤 4：身份切换</a:t>
            </a:r>
            <a:endParaRPr lang="zh-CN" altLang="en-US" dirty="0"/>
          </a:p>
          <a:p>
            <a:r>
              <a:rPr lang="en-US" altLang="zh-CN" dirty="0"/>
              <a:t>[VPN] </a:t>
            </a:r>
            <a:r>
              <a:rPr lang="zh-CN" altLang="en-US" dirty="0"/>
              <a:t>虚拟 </a:t>
            </a:r>
            <a:r>
              <a:rPr lang="en-US" altLang="zh-CN" dirty="0"/>
              <a:t>IP: 10.0.80.10 (WireGuard </a:t>
            </a:r>
            <a:r>
              <a:rPr lang="zh-CN" altLang="en-US" dirty="0"/>
              <a:t>隧道，真实分配)</a:t>
            </a:r>
            <a:endParaRPr lang="zh-CN" altLang="en-US" dirty="0"/>
          </a:p>
          <a:p>
            <a:r>
              <a:rPr lang="en-US" altLang="zh-CN" dirty="0"/>
              <a:t>[VPN] </a:t>
            </a:r>
            <a:r>
              <a:rPr lang="zh-CN" altLang="en-US" dirty="0"/>
              <a:t>权限: 通过 </a:t>
            </a:r>
            <a:r>
              <a:rPr lang="en-US" altLang="zh-CN" dirty="0"/>
              <a:t>wg0 </a:t>
            </a:r>
            <a:r>
              <a:rPr lang="zh-CN" altLang="en-US" dirty="0"/>
              <a:t>接口访问校内网</a:t>
            </a:r>
            <a:endParaRPr lang="zh-CN" altLang="en-US" dirty="0"/>
          </a:p>
          <a:p>
            <a:r>
              <a:rPr lang="en-US" altLang="zh-CN" dirty="0"/>
              <a:t>[VPN] </a:t>
            </a:r>
            <a:r>
              <a:rPr lang="zh-CN" altLang="en-US" dirty="0"/>
              <a:t>可访问: 宿舍/教学/图书馆/办公/服务器</a:t>
            </a:r>
            <a:endParaRPr lang="zh-CN" altLang="en-US" dirty="0"/>
          </a:p>
          <a:p>
            <a:r>
              <a:rPr lang="en-US" altLang="zh-CN" dirty="0"/>
              <a:t>[VPN] </a:t>
            </a:r>
            <a:r>
              <a:rPr lang="zh-CN" altLang="en-US" dirty="0"/>
              <a:t>禁止: 财务处(10.0.35.0/26)/人事处(10.0.35.64/26)</a:t>
            </a:r>
            <a:endParaRPr lang="zh-CN" altLang="en-US" dirty="0"/>
          </a:p>
          <a:p>
            <a:r>
              <a:rPr lang="zh-CN" altLang="en-US" dirty="0"/>
              <a:t>最终效果：</a:t>
            </a:r>
            <a:endParaRPr lang="zh-CN" altLang="en-US" dirty="0"/>
          </a:p>
          <a:p>
            <a:endParaRPr lang="en-US" altLang="zh-CN" dirty="0"/>
          </a:p>
          <a:p>
            <a:r>
              <a:rPr lang="en-US" altLang="zh-CN" dirty="0"/>
              <a:t>home_pc </a:t>
            </a:r>
            <a:r>
              <a:rPr lang="zh-CN" altLang="en-US" dirty="0"/>
              <a:t>从 </a:t>
            </a:r>
            <a:r>
              <a:rPr lang="en-US" altLang="zh-CN" dirty="0"/>
              <a:t>HOME_USER </a:t>
            </a:r>
            <a:r>
              <a:rPr lang="zh-CN" altLang="en-US" dirty="0"/>
              <a:t>身份切换为 </a:t>
            </a:r>
            <a:r>
              <a:rPr lang="en-US" altLang="zh-CN" dirty="0"/>
              <a:t>VPN_USER</a:t>
            </a:r>
            <a:endParaRPr lang="en-US" altLang="zh-CN" dirty="0"/>
          </a:p>
          <a:p>
            <a:r>
              <a:rPr lang="zh-CN" altLang="en-US" dirty="0"/>
              <a:t>流量路径：</a:t>
            </a:r>
            <a:r>
              <a:rPr lang="en-US" altLang="zh-CN" dirty="0"/>
              <a:t>home_pc → (</a:t>
            </a:r>
            <a:r>
              <a:rPr lang="zh-CN" altLang="en-US" dirty="0"/>
              <a:t>加密隧道) → </a:t>
            </a:r>
            <a:r>
              <a:rPr lang="en-US" altLang="zh-CN" dirty="0"/>
              <a:t>r1:wg0 → (</a:t>
            </a:r>
            <a:r>
              <a:rPr lang="zh-CN" altLang="en-US" dirty="0"/>
              <a:t>解密) → 校内网</a:t>
            </a:r>
            <a:endParaRPr lang="zh-CN" altLang="en-US" dirty="0"/>
          </a:p>
          <a:p>
            <a:r>
              <a:rPr lang="en-US" altLang="zh-CN" dirty="0"/>
              <a:t>ACL </a:t>
            </a:r>
            <a:r>
              <a:rPr lang="zh-CN" altLang="en-US" dirty="0"/>
              <a:t>生效：普通区域可达，敏感区域被 </a:t>
            </a:r>
            <a:r>
              <a:rPr lang="en-US" altLang="zh-CN" dirty="0"/>
              <a:t>iptables </a:t>
            </a:r>
            <a:r>
              <a:rPr lang="zh-CN" altLang="en-US" dirty="0"/>
              <a:t>拦截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1" Type="http://schemas.openxmlformats.org/officeDocument/2006/relationships/notesSlide" Target="../notesSlides/notesSlide6.xml"/><Relationship Id="rId20" Type="http://schemas.openxmlformats.org/officeDocument/2006/relationships/slideLayout" Target="../slideLayouts/slideLayout1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image" Target="../media/image7.emf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4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3" name="Shape 1"/>
          <p:cNvSpPr/>
          <p:nvPr/>
        </p:nvSpPr>
        <p:spPr>
          <a:xfrm>
            <a:off x="548640" y="1097280"/>
            <a:ext cx="54864" cy="1828800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4" name="Text 2"/>
          <p:cNvSpPr/>
          <p:nvPr/>
        </p:nvSpPr>
        <p:spPr>
          <a:xfrm>
            <a:off x="914400" y="1188720"/>
            <a:ext cx="7315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校园网络仿真项目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90E0E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Campus Network Simulation based on Mininet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00B4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虚拟校园网拓扑设计 · QoS 流量整形 · 负载均衡 · 安全策略验证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077B6"/>
          </a:solidFill>
        </p:spPr>
      </p:sp>
      <p:sp>
        <p:nvSpPr>
          <p:cNvPr id="8" name="Text 6"/>
          <p:cNvSpPr/>
          <p:nvPr/>
        </p:nvSpPr>
        <p:spPr>
          <a:xfrm>
            <a:off x="914400" y="461772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0E0E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计算机网络课程项目  ·  2026 年 6 月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0" y="731520"/>
            <a:ext cx="1097280" cy="1097280"/>
          </a:xfrm>
          <a:prstGeom prst="ellipse">
            <a:avLst/>
          </a:prstGeom>
          <a:solidFill>
            <a:srgbClr val="00B4D8">
              <a:alpha val="30000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8138160" y="1371600"/>
            <a:ext cx="731520" cy="731520"/>
          </a:xfrm>
          <a:prstGeom prst="ellipse">
            <a:avLst/>
          </a:prstGeom>
          <a:solidFill>
            <a:srgbClr val="90E0EF">
              <a:alpha val="40000"/>
            </a:srgbClr>
          </a:solid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3045E"/>
          </a:solidFill>
        </p:spPr>
      </p:sp>
      <p:sp>
        <p:nvSpPr>
          <p:cNvPr id="3" name="Text 1"/>
          <p:cNvSpPr/>
          <p:nvPr/>
        </p:nvSpPr>
        <p:spPr>
          <a:xfrm>
            <a:off x="914400" y="411480"/>
            <a:ext cx="3657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304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  录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1051560"/>
            <a:ext cx="1463040" cy="36576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5" name="Shape 3"/>
          <p:cNvSpPr/>
          <p:nvPr/>
        </p:nvSpPr>
        <p:spPr>
          <a:xfrm>
            <a:off x="914400" y="1444752"/>
            <a:ext cx="384048" cy="384048"/>
          </a:xfrm>
          <a:prstGeom prst="ellipse">
            <a:avLst/>
          </a:prstGeom>
          <a:solidFill>
            <a:srgbClr val="00B4D8"/>
          </a:solidFill>
        </p:spPr>
      </p:sp>
      <p:sp>
        <p:nvSpPr>
          <p:cNvPr id="6" name="Text 4"/>
          <p:cNvSpPr/>
          <p:nvPr/>
        </p:nvSpPr>
        <p:spPr>
          <a:xfrm>
            <a:off x="914400" y="144475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138988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304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网络拓扑设计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1664208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六区域 · 双服务器 · 三层架构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2011680"/>
            <a:ext cx="384048" cy="384048"/>
          </a:xfrm>
          <a:prstGeom prst="ellipse">
            <a:avLst/>
          </a:prstGeom>
          <a:solidFill>
            <a:srgbClr val="0077B6"/>
          </a:solidFill>
        </p:spPr>
      </p:sp>
      <p:sp>
        <p:nvSpPr>
          <p:cNvPr id="10" name="Text 8"/>
          <p:cNvSpPr/>
          <p:nvPr/>
        </p:nvSpPr>
        <p:spPr>
          <a:xfrm>
            <a:off x="914400" y="201168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08760" y="1956816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304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基础连通性验证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08760" y="2231136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跨区域 PING 互通测试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" y="2578608"/>
            <a:ext cx="384048" cy="384048"/>
          </a:xfrm>
          <a:prstGeom prst="ellipse">
            <a:avLst/>
          </a:prstGeom>
          <a:solidFill>
            <a:srgbClr val="0077B6"/>
          </a:solidFill>
        </p:spPr>
      </p:sp>
      <p:sp>
        <p:nvSpPr>
          <p:cNvPr id="14" name="Text 12"/>
          <p:cNvSpPr/>
          <p:nvPr/>
        </p:nvSpPr>
        <p:spPr>
          <a:xfrm>
            <a:off x="914400" y="257860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08760" y="252374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304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QoS 消融实验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08760" y="2798064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HTB 两级优先级 · 流量整形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4400" y="3145536"/>
            <a:ext cx="384048" cy="384048"/>
          </a:xfrm>
          <a:prstGeom prst="ellipse">
            <a:avLst/>
          </a:prstGeom>
          <a:solidFill>
            <a:srgbClr val="0077B6"/>
          </a:solidFill>
        </p:spPr>
      </p:sp>
      <p:sp>
        <p:nvSpPr>
          <p:cNvPr id="18" name="Text 16"/>
          <p:cNvSpPr/>
          <p:nvPr/>
        </p:nvSpPr>
        <p:spPr>
          <a:xfrm>
            <a:off x="914400" y="314553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08760" y="309067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304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负载均衡消融实验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08760" y="3364992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Round Robin · Jain 公平指数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4400" y="3712464"/>
            <a:ext cx="384048" cy="384048"/>
          </a:xfrm>
          <a:prstGeom prst="ellipse">
            <a:avLst/>
          </a:prstGeom>
          <a:solidFill>
            <a:srgbClr val="0077B6"/>
          </a:solidFill>
        </p:spPr>
      </p:sp>
      <p:sp>
        <p:nvSpPr>
          <p:cNvPr id="22" name="Text 20"/>
          <p:cNvSpPr/>
          <p:nvPr/>
        </p:nvSpPr>
        <p:spPr>
          <a:xfrm>
            <a:off x="914400" y="371246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08760" y="36576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304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安全策略消融实验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508760" y="3931920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ACL + IDS + SQLite 审计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14400" y="4279392"/>
            <a:ext cx="384048" cy="384048"/>
          </a:xfrm>
          <a:prstGeom prst="ellipse">
            <a:avLst/>
          </a:prstGeom>
          <a:solidFill>
            <a:srgbClr val="0077B6"/>
          </a:solidFill>
        </p:spPr>
      </p:sp>
      <p:sp>
        <p:nvSpPr>
          <p:cNvPr id="26" name="Text 24"/>
          <p:cNvSpPr/>
          <p:nvPr/>
        </p:nvSpPr>
        <p:spPr>
          <a:xfrm>
            <a:off x="914400" y="427939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508760" y="4224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304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VPN + 双重 ACL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508760" y="4498848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校外安全接入 · 两层访问控制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B4D8"/>
          </a:solidFill>
        </p:spPr>
      </p:sp>
      <p:sp>
        <p:nvSpPr>
          <p:cNvPr id="30" name="Text 2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3045E"/>
          </a:solidFill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网络拓扑设计</a:t>
            </a:r>
            <a:endParaRPr lang="en-US" sz="2800" dirty="0"/>
          </a:p>
        </p:txBody>
      </p:sp>
      <p:grpSp>
        <p:nvGrpSpPr>
          <p:cNvPr id="42" name="组合 41"/>
          <p:cNvGrpSpPr/>
          <p:nvPr/>
        </p:nvGrpSpPr>
        <p:grpSpPr>
          <a:xfrm>
            <a:off x="6490970" y="2081530"/>
            <a:ext cx="1371600" cy="457200"/>
            <a:chOff x="10224" y="4536"/>
            <a:chExt cx="2160" cy="720"/>
          </a:xfrm>
        </p:grpSpPr>
        <p:sp>
          <p:nvSpPr>
            <p:cNvPr id="16" name="Shape 14"/>
            <p:cNvSpPr/>
            <p:nvPr/>
          </p:nvSpPr>
          <p:spPr>
            <a:xfrm>
              <a:off x="10224" y="4536"/>
              <a:ext cx="2160" cy="720"/>
            </a:xfrm>
            <a:prstGeom prst="roundRect">
              <a:avLst>
                <a:gd name="adj" fmla="val 16000"/>
              </a:avLst>
            </a:prstGeom>
            <a:solidFill>
              <a:srgbClr val="03045E"/>
            </a:solidFill>
          </p:spPr>
        </p:sp>
        <p:sp>
          <p:nvSpPr>
            <p:cNvPr id="17" name="Text 15"/>
            <p:cNvSpPr/>
            <p:nvPr/>
          </p:nvSpPr>
          <p:spPr>
            <a:xfrm>
              <a:off x="10224" y="4536"/>
              <a:ext cx="2160" cy="72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核心路由器 r1</a:t>
              </a:r>
              <a:endParaRPr lang="en-US" sz="900" dirty="0"/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5259705" y="3486785"/>
            <a:ext cx="3749040" cy="411480"/>
            <a:chOff x="8064" y="1656"/>
            <a:chExt cx="5904" cy="648"/>
          </a:xfrm>
        </p:grpSpPr>
        <p:sp>
          <p:nvSpPr>
            <p:cNvPr id="18" name="Shape 16"/>
            <p:cNvSpPr/>
            <p:nvPr/>
          </p:nvSpPr>
          <p:spPr>
            <a:xfrm>
              <a:off x="8064" y="1656"/>
              <a:ext cx="1728" cy="648"/>
            </a:xfrm>
            <a:prstGeom prst="roundRect">
              <a:avLst>
                <a:gd name="adj" fmla="val 11111"/>
              </a:avLst>
            </a:prstGeom>
            <a:solidFill>
              <a:srgbClr val="0077B6"/>
            </a:solidFill>
          </p:spPr>
        </p:sp>
        <p:sp>
          <p:nvSpPr>
            <p:cNvPr id="19" name="Text 17"/>
            <p:cNvSpPr/>
            <p:nvPr/>
          </p:nvSpPr>
          <p:spPr>
            <a:xfrm>
              <a:off x="8064" y="1656"/>
              <a:ext cx="1728" cy="64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宿舍 (10.0.0.0/20)</a:t>
              </a:r>
              <a:endParaRPr lang="en-US" sz="7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10152" y="1656"/>
              <a:ext cx="1728" cy="648"/>
            </a:xfrm>
            <a:prstGeom prst="roundRect">
              <a:avLst>
                <a:gd name="adj" fmla="val 11111"/>
              </a:avLst>
            </a:prstGeom>
            <a:solidFill>
              <a:srgbClr val="0077B6"/>
            </a:solidFill>
          </p:spPr>
        </p:sp>
        <p:sp>
          <p:nvSpPr>
            <p:cNvPr id="22" name="Text 20"/>
            <p:cNvSpPr/>
            <p:nvPr/>
          </p:nvSpPr>
          <p:spPr>
            <a:xfrm>
              <a:off x="10152" y="1656"/>
              <a:ext cx="1728" cy="64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教学 (10.0.16.0/20)</a:t>
              </a:r>
              <a:endParaRPr lang="en-US" sz="7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12240" y="1656"/>
              <a:ext cx="1728" cy="648"/>
            </a:xfrm>
            <a:prstGeom prst="roundRect">
              <a:avLst>
                <a:gd name="adj" fmla="val 11111"/>
              </a:avLst>
            </a:prstGeom>
            <a:solidFill>
              <a:srgbClr val="0077B6"/>
            </a:solidFill>
          </p:spPr>
        </p:sp>
        <p:sp>
          <p:nvSpPr>
            <p:cNvPr id="24" name="Text 22"/>
            <p:cNvSpPr/>
            <p:nvPr/>
          </p:nvSpPr>
          <p:spPr>
            <a:xfrm>
              <a:off x="12240" y="1656"/>
              <a:ext cx="1728" cy="64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图书馆 (10.0.32.0/23)</a:t>
              </a:r>
              <a:endParaRPr lang="en-US" sz="700" dirty="0"/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5259705" y="4155440"/>
            <a:ext cx="3749040" cy="411480"/>
            <a:chOff x="8064" y="3096"/>
            <a:chExt cx="5904" cy="648"/>
          </a:xfrm>
        </p:grpSpPr>
        <p:sp>
          <p:nvSpPr>
            <p:cNvPr id="25" name="Shape 23"/>
            <p:cNvSpPr/>
            <p:nvPr/>
          </p:nvSpPr>
          <p:spPr>
            <a:xfrm>
              <a:off x="8064" y="3096"/>
              <a:ext cx="1728" cy="648"/>
            </a:xfrm>
            <a:prstGeom prst="roundRect">
              <a:avLst>
                <a:gd name="adj" fmla="val 11111"/>
              </a:avLst>
            </a:prstGeom>
            <a:solidFill>
              <a:srgbClr val="00B4D8"/>
            </a:solidFill>
          </p:spPr>
        </p:sp>
        <p:sp>
          <p:nvSpPr>
            <p:cNvPr id="26" name="Text 24"/>
            <p:cNvSpPr/>
            <p:nvPr/>
          </p:nvSpPr>
          <p:spPr>
            <a:xfrm>
              <a:off x="8064" y="3096"/>
              <a:ext cx="1728" cy="64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办公 (10.0.34.0/24)</a:t>
              </a:r>
              <a:endParaRPr lang="en-US" sz="7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10152" y="3096"/>
              <a:ext cx="1728" cy="648"/>
            </a:xfrm>
            <a:prstGeom prst="roundRect">
              <a:avLst>
                <a:gd name="adj" fmla="val 11111"/>
              </a:avLst>
            </a:prstGeom>
            <a:solidFill>
              <a:srgbClr val="E76F51"/>
            </a:solidFill>
          </p:spPr>
        </p:sp>
        <p:sp>
          <p:nvSpPr>
            <p:cNvPr id="28" name="Text 26"/>
            <p:cNvSpPr/>
            <p:nvPr/>
          </p:nvSpPr>
          <p:spPr>
            <a:xfrm>
              <a:off x="10152" y="3096"/>
              <a:ext cx="1728" cy="64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财务 (10.0.35.0/26)</a:t>
              </a:r>
              <a:endParaRPr lang="en-US" sz="7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12240" y="3096"/>
              <a:ext cx="1728" cy="648"/>
            </a:xfrm>
            <a:prstGeom prst="roundRect">
              <a:avLst>
                <a:gd name="adj" fmla="val 11111"/>
              </a:avLst>
            </a:prstGeom>
            <a:solidFill>
              <a:srgbClr val="E76F51"/>
            </a:solidFill>
          </p:spPr>
        </p:sp>
        <p:sp>
          <p:nvSpPr>
            <p:cNvPr id="30" name="Text 28"/>
            <p:cNvSpPr/>
            <p:nvPr/>
          </p:nvSpPr>
          <p:spPr>
            <a:xfrm>
              <a:off x="12240" y="3096"/>
              <a:ext cx="1728" cy="64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人事 (10.0.35.0/26)</a:t>
              </a:r>
              <a:endParaRPr lang="en-US" sz="700" dirty="0"/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5373370" y="903605"/>
            <a:ext cx="3566160" cy="502920"/>
            <a:chOff x="8540" y="5753"/>
            <a:chExt cx="5616" cy="792"/>
          </a:xfrm>
        </p:grpSpPr>
        <p:sp>
          <p:nvSpPr>
            <p:cNvPr id="31" name="Shape 29"/>
            <p:cNvSpPr/>
            <p:nvPr/>
          </p:nvSpPr>
          <p:spPr>
            <a:xfrm>
              <a:off x="8540" y="5753"/>
              <a:ext cx="5616" cy="792"/>
            </a:xfrm>
            <a:prstGeom prst="roundRect">
              <a:avLst>
                <a:gd name="adj" fmla="val 9091"/>
              </a:avLst>
            </a:prstGeom>
            <a:solidFill>
              <a:srgbClr val="90E0EF"/>
            </a:solidFill>
            <a:ln w="12700">
              <a:solidFill>
                <a:srgbClr val="00B4D8"/>
              </a:solidFill>
              <a:prstDash val="solid"/>
            </a:ln>
          </p:spPr>
        </p:sp>
        <p:sp>
          <p:nvSpPr>
            <p:cNvPr id="32" name="Text 30"/>
            <p:cNvSpPr/>
            <p:nvPr/>
          </p:nvSpPr>
          <p:spPr>
            <a:xfrm>
              <a:off x="8649" y="5862"/>
              <a:ext cx="5397" cy="57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03045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Server1 + Server2   (10.0.60.0/28, 10.0.60.16/28)</a:t>
              </a:r>
              <a:endParaRPr lang="en-US" sz="900" dirty="0"/>
            </a:p>
          </p:txBody>
        </p:sp>
      </p:grpSp>
      <p:sp>
        <p:nvSpPr>
          <p:cNvPr id="35" name="Shape 3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B4D8"/>
          </a:solidFill>
        </p:spPr>
      </p:sp>
      <p:sp>
        <p:nvSpPr>
          <p:cNvPr id="36" name="Text 3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3</a:t>
            </a:r>
            <a:endParaRPr lang="en-US" sz="1200" dirty="0"/>
          </a:p>
        </p:txBody>
      </p:sp>
      <p:pic>
        <p:nvPicPr>
          <p:cNvPr id="37" name="图片 36" descr="画图_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610" y="972820"/>
            <a:ext cx="5027295" cy="2827655"/>
          </a:xfrm>
          <a:prstGeom prst="rect">
            <a:avLst/>
          </a:prstGeom>
        </p:spPr>
      </p:pic>
      <p:cxnSp>
        <p:nvCxnSpPr>
          <p:cNvPr id="44" name="直接箭头连接符 43"/>
          <p:cNvCxnSpPr/>
          <p:nvPr/>
        </p:nvCxnSpPr>
        <p:spPr>
          <a:xfrm flipH="1" flipV="1">
            <a:off x="7171690" y="2614295"/>
            <a:ext cx="9525" cy="6959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/>
          <p:nvPr/>
        </p:nvCxnSpPr>
        <p:spPr>
          <a:xfrm flipH="1" flipV="1">
            <a:off x="7171690" y="1550035"/>
            <a:ext cx="9525" cy="4552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3045E"/>
          </a:solidFill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基础连通性验证 — PING 测试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F0F7FF"/>
          </a:solidFill>
        </p:spPr>
      </p:sp>
      <p:sp>
        <p:nvSpPr>
          <p:cNvPr id="5" name="Text 3"/>
          <p:cNvSpPr/>
          <p:nvPr/>
        </p:nvSpPr>
        <p:spPr>
          <a:xfrm>
            <a:off x="640080" y="105156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304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测试说明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0B4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▪ </a:t>
            </a:r>
            <a:r>
              <a:rPr lang="en-US" sz="1100" dirty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验证所有业务区域间的基础 IP 层连通性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709928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0B4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▪ </a:t>
            </a:r>
            <a:r>
              <a:rPr lang="en-US" sz="1100" dirty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</a:t>
            </a:r>
            <a:r>
              <a:rPr lang="zh-CN" altLang="en-US" sz="1100" dirty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校园内部</a:t>
            </a:r>
            <a:r>
              <a:rPr lang="en-US" altLang="zh-CN" sz="1100" dirty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ACL</a:t>
            </a:r>
            <a:r>
              <a:rPr lang="zh-CN" altLang="en-US" sz="1100" dirty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的白名单、</a:t>
            </a:r>
            <a:r>
              <a:rPr lang="zh-CN" altLang="en-US" sz="1100" dirty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黑名单规则</a:t>
            </a:r>
            <a:endParaRPr lang="zh-CN" altLang="en-US" sz="1100" dirty="0">
              <a:solidFill>
                <a:srgbClr val="44444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2002536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0B4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▪ </a:t>
            </a:r>
            <a:r>
              <a:rPr lang="en-US" sz="1100" dirty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验证三层交换机 + 核心路由器转发路径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295144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0B4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▪ </a:t>
            </a:r>
            <a:r>
              <a:rPr lang="en-US" sz="1100" dirty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确认双服务器可达性 (ICMP Echo/Reply)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834640"/>
            <a:ext cx="3931920" cy="2028825"/>
          </a:xfrm>
          <a:prstGeom prst="roundRect">
            <a:avLst>
              <a:gd name="adj" fmla="val 5000"/>
            </a:avLst>
          </a:prstGeom>
          <a:solidFill>
            <a:srgbClr val="F0F7FF"/>
          </a:solidFill>
        </p:spPr>
      </p:sp>
      <p:sp>
        <p:nvSpPr>
          <p:cNvPr id="11" name="Text 9"/>
          <p:cNvSpPr/>
          <p:nvPr/>
        </p:nvSpPr>
        <p:spPr>
          <a:xfrm>
            <a:off x="640080" y="292608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304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测试路径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7700" y="3246120"/>
            <a:ext cx="34213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4444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1.dorm1 → </a:t>
            </a:r>
            <a:r>
              <a:rPr lang="en-US" sz="1000" dirty="0">
                <a:solidFill>
                  <a:srgbClr val="44444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finance2  (宿舍1 ↔ </a:t>
            </a:r>
            <a:r>
              <a:rPr lang="zh-CN" altLang="en-US" sz="1000" dirty="0">
                <a:solidFill>
                  <a:srgbClr val="44444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财务</a:t>
            </a:r>
            <a:r>
              <a:rPr lang="en-US" altLang="zh-CN" sz="1000" dirty="0">
                <a:solidFill>
                  <a:srgbClr val="44444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r>
              <a:rPr lang="en-US" sz="1000" dirty="0">
                <a:solidFill>
                  <a:srgbClr val="44444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7540" y="3502025"/>
            <a:ext cx="340741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4444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2.office1 → finance1 (办公1 → 财务1)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7540" y="3757930"/>
            <a:ext cx="34315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4444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3.dorm1 → dorm2  (</a:t>
            </a:r>
            <a:r>
              <a:rPr lang="zh-CN" altLang="en-US" sz="1000" dirty="0">
                <a:solidFill>
                  <a:srgbClr val="44444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宿舍</a:t>
            </a:r>
            <a:r>
              <a:rPr lang="en-US" altLang="zh-CN" sz="1000" dirty="0">
                <a:solidFill>
                  <a:srgbClr val="44444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r>
              <a:rPr lang="en-US" sz="1000" dirty="0">
                <a:solidFill>
                  <a:srgbClr val="44444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→ </a:t>
            </a:r>
            <a:r>
              <a:rPr lang="zh-CN" altLang="en-US" sz="1000" dirty="0">
                <a:solidFill>
                  <a:srgbClr val="44444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宿舍</a:t>
            </a:r>
            <a:r>
              <a:rPr lang="en-US" altLang="zh-CN" sz="1000" dirty="0">
                <a:solidFill>
                  <a:srgbClr val="44444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r>
              <a:rPr lang="en-US" sz="1000" dirty="0">
                <a:solidFill>
                  <a:srgbClr val="44444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B4D8"/>
          </a:solidFill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4</a:t>
            </a:r>
            <a:endParaRPr lang="en-US" sz="1200" dirty="0"/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6445" y="1659255"/>
            <a:ext cx="2396490" cy="697230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6445" y="2569210"/>
            <a:ext cx="2396490" cy="709930"/>
          </a:xfrm>
          <a:prstGeom prst="rect">
            <a:avLst/>
          </a:prstGeom>
        </p:spPr>
      </p:pic>
      <p:cxnSp>
        <p:nvCxnSpPr>
          <p:cNvPr id="31" name="直接箭头连接符 30"/>
          <p:cNvCxnSpPr/>
          <p:nvPr/>
        </p:nvCxnSpPr>
        <p:spPr>
          <a:xfrm flipV="1">
            <a:off x="2963545" y="960120"/>
            <a:ext cx="1612900" cy="24180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/>
          <p:nvPr/>
        </p:nvCxnSpPr>
        <p:spPr>
          <a:xfrm flipV="1">
            <a:off x="3095625" y="2002790"/>
            <a:ext cx="1480820" cy="16383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/>
          <p:nvPr/>
        </p:nvCxnSpPr>
        <p:spPr>
          <a:xfrm flipV="1">
            <a:off x="2963545" y="2834640"/>
            <a:ext cx="1612900" cy="10509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8" name="Text 13"/>
          <p:cNvSpPr/>
          <p:nvPr/>
        </p:nvSpPr>
        <p:spPr>
          <a:xfrm>
            <a:off x="640080" y="4032250"/>
            <a:ext cx="340741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4444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4.dorm1 → server1 (</a:t>
            </a:r>
            <a:r>
              <a:rPr lang="zh-CN" altLang="en-US" sz="1000" dirty="0">
                <a:solidFill>
                  <a:srgbClr val="44444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宿舍</a:t>
            </a:r>
            <a:r>
              <a:rPr lang="en-US" altLang="zh-CN" sz="1000" dirty="0">
                <a:solidFill>
                  <a:srgbClr val="44444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r>
              <a:rPr lang="en-US" sz="1000" dirty="0">
                <a:solidFill>
                  <a:srgbClr val="44444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→ </a:t>
            </a:r>
            <a:r>
              <a:rPr lang="zh-CN" altLang="en-US" sz="1000" dirty="0">
                <a:solidFill>
                  <a:srgbClr val="44444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服务器</a:t>
            </a:r>
            <a:r>
              <a:rPr lang="en-US" altLang="zh-CN" sz="1000" dirty="0">
                <a:solidFill>
                  <a:srgbClr val="44444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r>
              <a:rPr lang="en-US" sz="1000" dirty="0">
                <a:solidFill>
                  <a:srgbClr val="44444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</a:t>
            </a:r>
            <a:endParaRPr lang="en-US" sz="1000" dirty="0"/>
          </a:p>
        </p:txBody>
      </p:sp>
      <p:sp>
        <p:nvSpPr>
          <p:cNvPr id="39" name="Text 15"/>
          <p:cNvSpPr/>
          <p:nvPr/>
        </p:nvSpPr>
        <p:spPr>
          <a:xfrm>
            <a:off x="640080" y="4288155"/>
            <a:ext cx="34315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4444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5.dorm1 → server2  (</a:t>
            </a:r>
            <a:r>
              <a:rPr lang="zh-CN" altLang="en-US" sz="1000" dirty="0">
                <a:solidFill>
                  <a:srgbClr val="44444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宿舍</a:t>
            </a:r>
            <a:r>
              <a:rPr lang="en-US" altLang="zh-CN" sz="1000" dirty="0">
                <a:solidFill>
                  <a:srgbClr val="44444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r>
              <a:rPr lang="en-US" sz="1000" dirty="0">
                <a:solidFill>
                  <a:srgbClr val="44444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→ 服务器2)</a:t>
            </a:r>
            <a:endParaRPr lang="en-US" sz="1000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6445" y="3375660"/>
            <a:ext cx="2625725" cy="1532890"/>
          </a:xfrm>
          <a:prstGeom prst="rect">
            <a:avLst/>
          </a:prstGeom>
        </p:spPr>
      </p:pic>
      <p:cxnSp>
        <p:nvCxnSpPr>
          <p:cNvPr id="14" name="直接箭头连接符 13"/>
          <p:cNvCxnSpPr/>
          <p:nvPr/>
        </p:nvCxnSpPr>
        <p:spPr>
          <a:xfrm flipV="1">
            <a:off x="3029585" y="3502025"/>
            <a:ext cx="1546860" cy="6400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 flipV="1">
            <a:off x="3095625" y="4288155"/>
            <a:ext cx="1480820" cy="1098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8" name="图片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6445" y="960755"/>
            <a:ext cx="2563495" cy="415290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7372985" y="957580"/>
            <a:ext cx="11753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PING</a:t>
            </a:r>
            <a:r>
              <a:rPr lang="zh-CN" altLang="en-US">
                <a:solidFill>
                  <a:srgbClr val="FF0000"/>
                </a:solidFill>
              </a:rPr>
              <a:t>失败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7499985" y="1910080"/>
            <a:ext cx="11753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PING</a:t>
            </a:r>
            <a:r>
              <a:rPr lang="zh-CN" altLang="en-US">
                <a:solidFill>
                  <a:srgbClr val="FF0000"/>
                </a:solidFill>
              </a:rPr>
              <a:t>成功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511415" y="2740025"/>
            <a:ext cx="11753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  <a:sym typeface="+mn-ea"/>
              </a:rPr>
              <a:t>PING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成功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499985" y="3502025"/>
            <a:ext cx="11753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PING</a:t>
            </a:r>
            <a:r>
              <a:rPr lang="zh-CN" altLang="en-US">
                <a:solidFill>
                  <a:srgbClr val="FF0000"/>
                </a:solidFill>
              </a:rPr>
              <a:t>成功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7499985" y="4264025"/>
            <a:ext cx="117538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olidFill>
                  <a:srgbClr val="FF0000"/>
                </a:solidFill>
                <a:sym typeface="+mn-ea"/>
              </a:rPr>
              <a:t>PING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成功</a:t>
            </a:r>
            <a:endParaRPr lang="zh-CN" altLang="en-US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3045E"/>
          </a:solidFill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QoS 消融实验 — HTB 两级优先级流量整形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4297680" cy="3246120"/>
          </a:xfrm>
          <a:prstGeom prst="roundRect">
            <a:avLst>
              <a:gd name="adj" fmla="val 2254"/>
            </a:avLst>
          </a:prstGeom>
          <a:solidFill>
            <a:srgbClr val="F0F7FF"/>
          </a:solidFill>
        </p:spPr>
      </p:sp>
      <p:sp>
        <p:nvSpPr>
          <p:cNvPr id="5" name="Text 3"/>
          <p:cNvSpPr/>
          <p:nvPr/>
        </p:nvSpPr>
        <p:spPr>
          <a:xfrm>
            <a:off x="640080" y="10515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04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实验设置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4069715" cy="320040"/>
          </a:xfrm>
          <a:prstGeom prst="rect">
            <a:avLst/>
          </a:prstGeom>
          <a:solidFill>
            <a:srgbClr val="03045E"/>
          </a:solidFill>
        </p:spPr>
      </p:sp>
      <p:sp>
        <p:nvSpPr>
          <p:cNvPr id="7" name="Text 5"/>
          <p:cNvSpPr/>
          <p:nvPr/>
        </p:nvSpPr>
        <p:spPr>
          <a:xfrm>
            <a:off x="640080" y="146304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区域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468880" y="146304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优先级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46120" y="1463040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保障带宽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0" y="146304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上限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1810385"/>
            <a:ext cx="4055110" cy="320040"/>
          </a:xfrm>
          <a:prstGeom prst="rect">
            <a:avLst/>
          </a:prstGeom>
          <a:solidFill>
            <a:srgbClr val="E8F5E9"/>
          </a:solidFill>
        </p:spPr>
      </p:sp>
      <p:sp>
        <p:nvSpPr>
          <p:cNvPr id="12" name="Text 10"/>
          <p:cNvSpPr/>
          <p:nvPr/>
        </p:nvSpPr>
        <p:spPr>
          <a:xfrm>
            <a:off x="640080" y="1810512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财务 (finance)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68880" y="1810512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prio=0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46120" y="1810512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 Mbps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069080" y="1810512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 Mbps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2157730"/>
            <a:ext cx="4055745" cy="411480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17" name="Text 15"/>
          <p:cNvSpPr/>
          <p:nvPr/>
        </p:nvSpPr>
        <p:spPr>
          <a:xfrm>
            <a:off x="640080" y="2157984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办公/教学/图书馆/宿舍/人事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468880" y="2157984"/>
            <a:ext cx="7315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prio=7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46120" y="2157984"/>
            <a:ext cx="822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 Mbps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069080" y="2157984"/>
            <a:ext cx="7315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 Mbps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2706624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B4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▸ </a:t>
            </a:r>
            <a:r>
              <a:rPr lang="en-US" sz="1000" dirty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HTB (Hierarchy Token Bucket) 两级优先级队列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3008376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B4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▸ </a:t>
            </a:r>
            <a:r>
              <a:rPr lang="en-US" sz="1000" dirty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财务区域 prio=0 独享最高优先级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328295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B4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▸ </a:t>
            </a:r>
            <a:r>
              <a:rPr lang="en-US" sz="1000" dirty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低优先级区域仅在财务处下限满足后获得剩余带宽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937760" y="960120"/>
            <a:ext cx="3794760" cy="3246120"/>
          </a:xfrm>
          <a:prstGeom prst="roundRect">
            <a:avLst>
              <a:gd name="adj" fmla="val 2254"/>
            </a:avLst>
          </a:prstGeom>
          <a:solidFill>
            <a:srgbClr val="F0F7FF"/>
          </a:solidFill>
        </p:spPr>
      </p:sp>
      <p:sp>
        <p:nvSpPr>
          <p:cNvPr id="26" name="Text 24"/>
          <p:cNvSpPr/>
          <p:nvPr/>
        </p:nvSpPr>
        <p:spPr>
          <a:xfrm>
            <a:off x="5166360" y="105156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500" b="1" dirty="0">
                <a:solidFill>
                  <a:srgbClr val="0304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</a:t>
            </a:r>
            <a:r>
              <a:rPr lang="en-US" sz="1500" b="1" dirty="0">
                <a:solidFill>
                  <a:srgbClr val="0304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实验结果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166360" y="1508760"/>
            <a:ext cx="3566160" cy="320040"/>
          </a:xfrm>
          <a:prstGeom prst="rect">
            <a:avLst/>
          </a:prstGeom>
          <a:solidFill>
            <a:srgbClr val="03045E"/>
          </a:solidFill>
        </p:spPr>
      </p:sp>
      <p:sp>
        <p:nvSpPr>
          <p:cNvPr id="28" name="Text 26"/>
          <p:cNvSpPr/>
          <p:nvPr/>
        </p:nvSpPr>
        <p:spPr>
          <a:xfrm>
            <a:off x="5166360" y="150876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指标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43955" y="1508760"/>
            <a:ext cx="1401445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财务处</a:t>
            </a:r>
            <a:r>
              <a:rPr lang="en-US" altLang="zh-CN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Final-HTB</a:t>
            </a:r>
            <a:r>
              <a:rPr lang="zh-CN" alt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消融</a:t>
            </a:r>
            <a:endParaRPr lang="zh-CN" altLang="en-US" sz="10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543800" y="150876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财务处</a:t>
            </a:r>
            <a:r>
              <a:rPr lang="en-US" altLang="zh-CN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Final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166360" y="1874520"/>
            <a:ext cx="1188720" cy="292608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32" name="Text 30"/>
          <p:cNvSpPr/>
          <p:nvPr/>
        </p:nvSpPr>
        <p:spPr>
          <a:xfrm>
            <a:off x="5166360" y="1874520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000" b="1" dirty="0">
                <a:solidFill>
                  <a:srgbClr val="0304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吞吐量</a:t>
            </a:r>
            <a:endParaRPr lang="zh-CN" altLang="en-US" sz="1000" b="1" dirty="0">
              <a:solidFill>
                <a:srgbClr val="03045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355080" y="1874520"/>
            <a:ext cx="1188720" cy="292608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34" name="Text 32"/>
          <p:cNvSpPr/>
          <p:nvPr/>
        </p:nvSpPr>
        <p:spPr>
          <a:xfrm>
            <a:off x="6355080" y="1874520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A7D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11.45 Mbps</a:t>
            </a:r>
            <a:endParaRPr lang="en-US" sz="1000" dirty="0">
              <a:solidFill>
                <a:srgbClr val="9999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7543800" y="1874520"/>
            <a:ext cx="1188720" cy="292608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36" name="Text 34"/>
          <p:cNvSpPr/>
          <p:nvPr/>
        </p:nvSpPr>
        <p:spPr>
          <a:xfrm>
            <a:off x="7543800" y="1874520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A7D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15.87 Mbps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166360" y="2212848"/>
            <a:ext cx="1188720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8" name="Text 36"/>
          <p:cNvSpPr/>
          <p:nvPr/>
        </p:nvSpPr>
        <p:spPr>
          <a:xfrm>
            <a:off x="5166360" y="2212848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000" b="1" dirty="0">
                <a:solidFill>
                  <a:srgbClr val="0304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时延</a:t>
            </a:r>
            <a:endParaRPr lang="zh-CN" alt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355080" y="2212848"/>
            <a:ext cx="1188720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0" name="Text 38"/>
          <p:cNvSpPr/>
          <p:nvPr/>
        </p:nvSpPr>
        <p:spPr>
          <a:xfrm>
            <a:off x="6355080" y="2212848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A7D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19.18 ms</a:t>
            </a:r>
            <a:endParaRPr lang="en-US" sz="1000" dirty="0">
              <a:solidFill>
                <a:srgbClr val="9999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7543800" y="2212848"/>
            <a:ext cx="1188720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2" name="Text 40"/>
          <p:cNvSpPr/>
          <p:nvPr/>
        </p:nvSpPr>
        <p:spPr>
          <a:xfrm>
            <a:off x="7543800" y="2212848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A7D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18.72ms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166360" y="2551176"/>
            <a:ext cx="1188720" cy="292608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44" name="Text 42"/>
          <p:cNvSpPr/>
          <p:nvPr/>
        </p:nvSpPr>
        <p:spPr>
          <a:xfrm>
            <a:off x="5166360" y="2551176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000" b="1" dirty="0">
                <a:solidFill>
                  <a:srgbClr val="0304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抖动</a:t>
            </a:r>
            <a:endParaRPr lang="zh-CN" altLang="en-US" sz="1000" b="1" dirty="0">
              <a:solidFill>
                <a:srgbClr val="03045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6355080" y="2551176"/>
            <a:ext cx="1188720" cy="292608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46" name="Text 44"/>
          <p:cNvSpPr/>
          <p:nvPr/>
        </p:nvSpPr>
        <p:spPr>
          <a:xfrm>
            <a:off x="6355080" y="2551176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A7D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1.76 ms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543800" y="2551176"/>
            <a:ext cx="1188720" cy="292608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48" name="Text 46"/>
          <p:cNvSpPr/>
          <p:nvPr/>
        </p:nvSpPr>
        <p:spPr>
          <a:xfrm>
            <a:off x="7543800" y="2551176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A7D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0.36 ms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166360" y="2889504"/>
            <a:ext cx="1188720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0" name="Text 48"/>
          <p:cNvSpPr/>
          <p:nvPr/>
        </p:nvSpPr>
        <p:spPr>
          <a:xfrm>
            <a:off x="5166360" y="2889504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000" b="1" dirty="0">
                <a:solidFill>
                  <a:srgbClr val="0304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丢包率</a:t>
            </a:r>
            <a:endParaRPr lang="zh-CN" altLang="en-US" sz="1000" b="1" dirty="0">
              <a:solidFill>
                <a:srgbClr val="03045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6355080" y="2889504"/>
            <a:ext cx="1188720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2" name="Text 50"/>
          <p:cNvSpPr/>
          <p:nvPr/>
        </p:nvSpPr>
        <p:spPr>
          <a:xfrm>
            <a:off x="6355080" y="2889504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A7D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0.0 %</a:t>
            </a:r>
            <a:endParaRPr lang="en-US" sz="1000" b="1" dirty="0">
              <a:solidFill>
                <a:srgbClr val="2A7D2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7543800" y="2889504"/>
            <a:ext cx="1188720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4" name="Text 52"/>
          <p:cNvSpPr/>
          <p:nvPr/>
        </p:nvSpPr>
        <p:spPr>
          <a:xfrm>
            <a:off x="7543800" y="2889504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A7D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0.0 %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166360" y="3456432"/>
            <a:ext cx="3200400" cy="502920"/>
          </a:xfrm>
          <a:prstGeom prst="roundRect">
            <a:avLst>
              <a:gd name="adj" fmla="val 9091"/>
            </a:avLst>
          </a:prstGeom>
          <a:solidFill>
            <a:srgbClr val="E8F5E9"/>
          </a:solidFill>
        </p:spPr>
      </p:sp>
      <p:sp>
        <p:nvSpPr>
          <p:cNvPr id="56" name="Text 54"/>
          <p:cNvSpPr/>
          <p:nvPr/>
        </p:nvSpPr>
        <p:spPr>
          <a:xfrm>
            <a:off x="5349240" y="3502152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A7D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核心结论: 优先级调度机制能够为关键业务提供更稳定的带宽保障。</a:t>
            </a:r>
            <a:endParaRPr lang="en-US" sz="1000" b="1" dirty="0">
              <a:solidFill>
                <a:srgbClr val="2A7D2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B4D8"/>
          </a:solidFill>
        </p:spPr>
      </p:sp>
      <p:sp>
        <p:nvSpPr>
          <p:cNvPr id="59" name="Text 5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7975409" name="图片 2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143" b="8838"/>
          <a:stretch>
            <a:fillRect/>
          </a:stretch>
        </p:blipFill>
        <p:spPr bwMode="auto">
          <a:xfrm>
            <a:off x="313690" y="1541780"/>
            <a:ext cx="4972685" cy="2207895"/>
          </a:xfrm>
          <a:prstGeom prst="rect">
            <a:avLst/>
          </a:prstGeom>
          <a:ln>
            <a:noFill/>
          </a:ln>
        </p:spPr>
      </p:pic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3045E"/>
          </a:solidFill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负载均衡消融实验 — Round Robin 调度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04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实验</a:t>
            </a:r>
            <a:r>
              <a:rPr lang="zh-CN" altLang="en-US" sz="1500" b="1" dirty="0">
                <a:solidFill>
                  <a:srgbClr val="0304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原理</a:t>
            </a:r>
            <a:r>
              <a:rPr lang="zh-CN" altLang="en-US" sz="1500" b="1" dirty="0">
                <a:solidFill>
                  <a:srgbClr val="0304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</a:t>
            </a:r>
            <a:endParaRPr lang="zh-CN" altLang="en-US" sz="1500" b="1" dirty="0">
              <a:solidFill>
                <a:srgbClr val="03045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166360" y="960120"/>
            <a:ext cx="3794760" cy="3246120"/>
          </a:xfrm>
          <a:prstGeom prst="roundRect">
            <a:avLst>
              <a:gd name="adj" fmla="val 2254"/>
            </a:avLst>
          </a:prstGeom>
          <a:solidFill>
            <a:srgbClr val="F0F7FF"/>
          </a:solidFill>
        </p:spPr>
      </p:sp>
      <p:sp>
        <p:nvSpPr>
          <p:cNvPr id="20" name="Text 18"/>
          <p:cNvSpPr/>
          <p:nvPr/>
        </p:nvSpPr>
        <p:spPr>
          <a:xfrm>
            <a:off x="5394960" y="105156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04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实验结果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394960" y="1508760"/>
            <a:ext cx="3566160" cy="320040"/>
          </a:xfrm>
          <a:prstGeom prst="rect">
            <a:avLst/>
          </a:prstGeom>
          <a:solidFill>
            <a:srgbClr val="03045E"/>
          </a:solidFill>
        </p:spPr>
      </p:sp>
      <p:sp>
        <p:nvSpPr>
          <p:cNvPr id="22" name="Text 20"/>
          <p:cNvSpPr/>
          <p:nvPr/>
        </p:nvSpPr>
        <p:spPr>
          <a:xfrm>
            <a:off x="5394960" y="150876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指标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83680" y="150876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Final-LB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0" y="150876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Final</a:t>
            </a:r>
            <a:endParaRPr lang="en-US" sz="1000" dirty="0"/>
          </a:p>
        </p:txBody>
      </p:sp>
      <p:sp>
        <p:nvSpPr>
          <p:cNvPr id="25" name="Shape 23"/>
          <p:cNvSpPr/>
          <p:nvPr>
            <p:custDataLst>
              <p:tags r:id="rId2"/>
            </p:custDataLst>
          </p:nvPr>
        </p:nvSpPr>
        <p:spPr>
          <a:xfrm>
            <a:off x="5394960" y="1874520"/>
            <a:ext cx="1188720" cy="292608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26" name="Text 24"/>
          <p:cNvSpPr/>
          <p:nvPr>
            <p:custDataLst>
              <p:tags r:id="rId3"/>
            </p:custDataLst>
          </p:nvPr>
        </p:nvSpPr>
        <p:spPr>
          <a:xfrm>
            <a:off x="5394960" y="1874520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304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S1 </a:t>
            </a:r>
            <a:r>
              <a:rPr lang="zh-CN" altLang="en-US" sz="1000" b="1" dirty="0">
                <a:solidFill>
                  <a:srgbClr val="0304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利用率</a:t>
            </a:r>
            <a:endParaRPr lang="zh-CN" altLang="en-US" sz="1000" b="1" dirty="0">
              <a:solidFill>
                <a:srgbClr val="03045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7" name="Shape 25"/>
          <p:cNvSpPr/>
          <p:nvPr>
            <p:custDataLst>
              <p:tags r:id="rId4"/>
            </p:custDataLst>
          </p:nvPr>
        </p:nvSpPr>
        <p:spPr>
          <a:xfrm>
            <a:off x="6583680" y="1874520"/>
            <a:ext cx="1188720" cy="292608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28" name="Text 26"/>
          <p:cNvSpPr/>
          <p:nvPr>
            <p:custDataLst>
              <p:tags r:id="rId5"/>
            </p:custDataLst>
          </p:nvPr>
        </p:nvSpPr>
        <p:spPr>
          <a:xfrm>
            <a:off x="6583680" y="1874520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A7D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86.2%</a:t>
            </a:r>
            <a:endParaRPr lang="en-US" sz="1000" dirty="0"/>
          </a:p>
        </p:txBody>
      </p:sp>
      <p:sp>
        <p:nvSpPr>
          <p:cNvPr id="29" name="Shape 27"/>
          <p:cNvSpPr/>
          <p:nvPr>
            <p:custDataLst>
              <p:tags r:id="rId6"/>
            </p:custDataLst>
          </p:nvPr>
        </p:nvSpPr>
        <p:spPr>
          <a:xfrm>
            <a:off x="7772400" y="1874520"/>
            <a:ext cx="1188720" cy="292608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30" name="Text 28"/>
          <p:cNvSpPr/>
          <p:nvPr>
            <p:custDataLst>
              <p:tags r:id="rId7"/>
            </p:custDataLst>
          </p:nvPr>
        </p:nvSpPr>
        <p:spPr>
          <a:xfrm>
            <a:off x="7772400" y="1874520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A7D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68.4%</a:t>
            </a:r>
            <a:endParaRPr lang="en-US" sz="1000" dirty="0"/>
          </a:p>
        </p:txBody>
      </p:sp>
      <p:sp>
        <p:nvSpPr>
          <p:cNvPr id="31" name="Shape 29"/>
          <p:cNvSpPr/>
          <p:nvPr>
            <p:custDataLst>
              <p:tags r:id="rId8"/>
            </p:custDataLst>
          </p:nvPr>
        </p:nvSpPr>
        <p:spPr>
          <a:xfrm>
            <a:off x="5394960" y="2212848"/>
            <a:ext cx="1188720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2" name="Text 30"/>
          <p:cNvSpPr/>
          <p:nvPr>
            <p:custDataLst>
              <p:tags r:id="rId9"/>
            </p:custDataLst>
          </p:nvPr>
        </p:nvSpPr>
        <p:spPr>
          <a:xfrm>
            <a:off x="5394960" y="2212848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304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S2 </a:t>
            </a:r>
            <a:r>
              <a:rPr lang="zh-CN" altLang="en-US" sz="1000" b="1" dirty="0">
                <a:solidFill>
                  <a:srgbClr val="0304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利用率</a:t>
            </a:r>
            <a:endParaRPr lang="zh-CN" altLang="en-US" sz="1000" b="1" dirty="0">
              <a:solidFill>
                <a:srgbClr val="03045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3" name="Shape 31"/>
          <p:cNvSpPr/>
          <p:nvPr>
            <p:custDataLst>
              <p:tags r:id="rId10"/>
            </p:custDataLst>
          </p:nvPr>
        </p:nvSpPr>
        <p:spPr>
          <a:xfrm>
            <a:off x="6583680" y="2212848"/>
            <a:ext cx="1188720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4" name="Text 32"/>
          <p:cNvSpPr/>
          <p:nvPr>
            <p:custDataLst>
              <p:tags r:id="rId11"/>
            </p:custDataLst>
          </p:nvPr>
        </p:nvSpPr>
        <p:spPr>
          <a:xfrm>
            <a:off x="6583680" y="2212848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A7D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40.0%</a:t>
            </a:r>
            <a:endParaRPr lang="en-US" sz="1000" dirty="0"/>
          </a:p>
        </p:txBody>
      </p:sp>
      <p:sp>
        <p:nvSpPr>
          <p:cNvPr id="35" name="Shape 33"/>
          <p:cNvSpPr/>
          <p:nvPr>
            <p:custDataLst>
              <p:tags r:id="rId12"/>
            </p:custDataLst>
          </p:nvPr>
        </p:nvSpPr>
        <p:spPr>
          <a:xfrm>
            <a:off x="7772400" y="2212848"/>
            <a:ext cx="1188720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6" name="Text 34"/>
          <p:cNvSpPr/>
          <p:nvPr>
            <p:custDataLst>
              <p:tags r:id="rId13"/>
            </p:custDataLst>
          </p:nvPr>
        </p:nvSpPr>
        <p:spPr>
          <a:xfrm>
            <a:off x="7772400" y="2212848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A7D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65.0%</a:t>
            </a:r>
            <a:endParaRPr lang="en-US" sz="1000" dirty="0"/>
          </a:p>
        </p:txBody>
      </p:sp>
      <p:sp>
        <p:nvSpPr>
          <p:cNvPr id="37" name="Shape 35"/>
          <p:cNvSpPr/>
          <p:nvPr>
            <p:custDataLst>
              <p:tags r:id="rId14"/>
            </p:custDataLst>
          </p:nvPr>
        </p:nvSpPr>
        <p:spPr>
          <a:xfrm>
            <a:off x="5394960" y="2551176"/>
            <a:ext cx="1188720" cy="292608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38" name="Text 36"/>
          <p:cNvSpPr/>
          <p:nvPr>
            <p:custDataLst>
              <p:tags r:id="rId15"/>
            </p:custDataLst>
          </p:nvPr>
        </p:nvSpPr>
        <p:spPr>
          <a:xfrm>
            <a:off x="5394960" y="2551176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304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Jain 公平指数</a:t>
            </a:r>
            <a:endParaRPr lang="en-US" sz="1000" dirty="0"/>
          </a:p>
        </p:txBody>
      </p:sp>
      <p:sp>
        <p:nvSpPr>
          <p:cNvPr id="39" name="Shape 37"/>
          <p:cNvSpPr/>
          <p:nvPr>
            <p:custDataLst>
              <p:tags r:id="rId16"/>
            </p:custDataLst>
          </p:nvPr>
        </p:nvSpPr>
        <p:spPr>
          <a:xfrm>
            <a:off x="6583680" y="2551176"/>
            <a:ext cx="1188720" cy="292608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40" name="Text 38"/>
          <p:cNvSpPr/>
          <p:nvPr>
            <p:custDataLst>
              <p:tags r:id="rId17"/>
            </p:custDataLst>
          </p:nvPr>
        </p:nvSpPr>
        <p:spPr>
          <a:xfrm>
            <a:off x="6583680" y="2551176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A7D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0.8820</a:t>
            </a:r>
            <a:endParaRPr lang="en-US" sz="1000" dirty="0"/>
          </a:p>
        </p:txBody>
      </p:sp>
      <p:sp>
        <p:nvSpPr>
          <p:cNvPr id="41" name="Shape 39"/>
          <p:cNvSpPr/>
          <p:nvPr>
            <p:custDataLst>
              <p:tags r:id="rId18"/>
            </p:custDataLst>
          </p:nvPr>
        </p:nvSpPr>
        <p:spPr>
          <a:xfrm>
            <a:off x="7772400" y="2551176"/>
            <a:ext cx="1188720" cy="292608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42" name="Text 40"/>
          <p:cNvSpPr/>
          <p:nvPr>
            <p:custDataLst>
              <p:tags r:id="rId19"/>
            </p:custDataLst>
          </p:nvPr>
        </p:nvSpPr>
        <p:spPr>
          <a:xfrm>
            <a:off x="7772400" y="2551176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A7D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0.9993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394960" y="2889504"/>
            <a:ext cx="1188720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4" name="Text 42"/>
          <p:cNvSpPr/>
          <p:nvPr/>
        </p:nvSpPr>
        <p:spPr>
          <a:xfrm>
            <a:off x="5394960" y="2889504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304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均衡效果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583680" y="2889504"/>
            <a:ext cx="1188720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6" name="Text 44"/>
          <p:cNvSpPr/>
          <p:nvPr/>
        </p:nvSpPr>
        <p:spPr>
          <a:xfrm>
            <a:off x="6583680" y="2889504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A7D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各自独立承载</a:t>
            </a:r>
            <a:endParaRPr lang="en-US" sz="1000" b="1" dirty="0">
              <a:solidFill>
                <a:srgbClr val="2A7D2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7772400" y="2889504"/>
            <a:ext cx="1188720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8" name="Text 46"/>
          <p:cNvSpPr/>
          <p:nvPr/>
        </p:nvSpPr>
        <p:spPr>
          <a:xfrm>
            <a:off x="7772400" y="2889504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A7D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均分负载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394960" y="3456432"/>
            <a:ext cx="3200400" cy="502920"/>
          </a:xfrm>
          <a:prstGeom prst="roundRect">
            <a:avLst>
              <a:gd name="adj" fmla="val 9091"/>
            </a:avLst>
          </a:prstGeom>
          <a:solidFill>
            <a:srgbClr val="E8F5E9"/>
          </a:solidFill>
        </p:spPr>
      </p:sp>
      <p:sp>
        <p:nvSpPr>
          <p:cNvPr id="50" name="Text 48"/>
          <p:cNvSpPr/>
          <p:nvPr/>
        </p:nvSpPr>
        <p:spPr>
          <a:xfrm>
            <a:off x="5577840" y="3502152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A7D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核心结论: </a:t>
            </a:r>
            <a:r>
              <a:rPr lang="zh-CN" altLang="en-US" sz="1000" b="1" dirty="0">
                <a:solidFill>
                  <a:srgbClr val="2A7D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</a:t>
            </a:r>
            <a:r>
              <a:rPr lang="en-US" altLang="zh-CN" sz="1000" b="1" dirty="0">
                <a:solidFill>
                  <a:srgbClr val="2A7D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RR</a:t>
            </a:r>
            <a:r>
              <a:rPr lang="zh-CN" altLang="en-US" sz="1000" b="1" dirty="0">
                <a:solidFill>
                  <a:srgbClr val="2A7D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的负载均衡算法可以</a:t>
            </a:r>
            <a:r>
              <a:rPr lang="zh-CN" altLang="en-US" sz="1000" b="1" dirty="0">
                <a:solidFill>
                  <a:srgbClr val="2A7D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有效提高双服务器系统的资源利用效率。</a:t>
            </a:r>
            <a:endParaRPr lang="zh-CN" altLang="en-US" sz="1000" b="1" dirty="0">
              <a:solidFill>
                <a:srgbClr val="2A7D2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B4D8"/>
          </a:solidFill>
        </p:spPr>
      </p:sp>
      <p:sp>
        <p:nvSpPr>
          <p:cNvPr id="53" name="Text 5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3045E"/>
          </a:solidFill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安全策略消融实验 — Flood + IDS + </a:t>
            </a:r>
            <a:r>
              <a:rPr lang="zh-CN" altLang="en-US" sz="2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持久化存储</a:t>
            </a:r>
            <a:endParaRPr lang="zh-CN" altLang="en-US" sz="26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2925445" cy="3246120"/>
          </a:xfrm>
          <a:prstGeom prst="roundRect">
            <a:avLst>
              <a:gd name="adj" fmla="val 2254"/>
            </a:avLst>
          </a:prstGeom>
          <a:solidFill>
            <a:srgbClr val="F0F7FF"/>
          </a:solidFill>
        </p:spPr>
      </p:sp>
      <p:sp>
        <p:nvSpPr>
          <p:cNvPr id="5" name="Text 3"/>
          <p:cNvSpPr/>
          <p:nvPr/>
        </p:nvSpPr>
        <p:spPr>
          <a:xfrm>
            <a:off x="640080" y="10515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04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实验设置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508760"/>
            <a:ext cx="230251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459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1581912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304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1.ICMP Flood 防护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1828800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iptables limit 1/s burst=5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插入 ESTABLISHED 之前，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强制所有 ICMP 先经限速检查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2423160"/>
            <a:ext cx="230251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5603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68680" y="2488057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304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2.端口扫描检测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2734945"/>
            <a:ext cx="1494790" cy="2876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10s 滑动窗口 · 阈值 20 端口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触发自动封禁 300s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1520" y="3337560"/>
            <a:ext cx="230251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4747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68680" y="3401695"/>
            <a:ext cx="121729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304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3.SQLite </a:t>
            </a:r>
            <a:r>
              <a:rPr lang="zh-CN" altLang="en-US" sz="1300" b="1" dirty="0">
                <a:solidFill>
                  <a:srgbClr val="0304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存储</a:t>
            </a:r>
            <a:endParaRPr lang="zh-CN" altLang="en-US" sz="1300" b="1" dirty="0">
              <a:solidFill>
                <a:srgbClr val="03045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68680" y="3648710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记录 FLOOD / PORT_SCAN / BAN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事件类型分布统计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完整审计溯源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B4D8"/>
          </a:solidFill>
        </p:spPr>
      </p:sp>
      <p:sp>
        <p:nvSpPr>
          <p:cNvPr id="59" name="Text 5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7</a:t>
            </a:r>
            <a:endParaRPr lang="en-US" sz="1200" dirty="0"/>
          </a:p>
        </p:txBody>
      </p:sp>
      <p:sp>
        <p:nvSpPr>
          <p:cNvPr id="54" name="文本框 53"/>
          <p:cNvSpPr txBox="1"/>
          <p:nvPr/>
        </p:nvSpPr>
        <p:spPr>
          <a:xfrm>
            <a:off x="4665345" y="988695"/>
            <a:ext cx="2043430" cy="337185"/>
          </a:xfrm>
          <a:prstGeom prst="rect">
            <a:avLst/>
          </a:prstGeom>
        </p:spPr>
        <p:txBody>
          <a:bodyPr wrap="square">
            <a:spAutoFit/>
          </a:bodyPr>
          <a:p>
            <a:pPr defTabSz="266700"/>
            <a:r>
              <a:rPr lang="en-US" sz="1600">
                <a:latin typeface="Times New Roman" panose="02020603050405020304"/>
                <a:ea typeface="宋体" panose="02010600030101010101" pitchFamily="2" charset="-122"/>
              </a:rPr>
              <a:t>ICMP Flood</a:t>
            </a:r>
            <a:r>
              <a:rPr lang="zh-CN" sz="1600">
                <a:latin typeface="Times New Roman" panose="02020603050405020304"/>
                <a:ea typeface="宋体" panose="02010600030101010101" pitchFamily="2" charset="-122"/>
              </a:rPr>
              <a:t>攻击防护</a:t>
            </a:r>
            <a:endParaRPr lang="zh-CN" altLang="en-US" sz="1600">
              <a:latin typeface="Times New Roman" panose="02020603050405020304"/>
              <a:ea typeface="宋体" panose="02010600030101010101" pitchFamily="2" charset="-122"/>
            </a:endParaRPr>
          </a:p>
        </p:txBody>
      </p:sp>
      <p:pic>
        <p:nvPicPr>
          <p:cNvPr id="56" name="图片 5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07410" y="1325880"/>
            <a:ext cx="5279390" cy="699770"/>
          </a:xfrm>
          <a:prstGeom prst="rect">
            <a:avLst/>
          </a:prstGeom>
        </p:spPr>
      </p:pic>
      <p:sp>
        <p:nvSpPr>
          <p:cNvPr id="57" name="文本框 56"/>
          <p:cNvSpPr txBox="1"/>
          <p:nvPr/>
        </p:nvSpPr>
        <p:spPr>
          <a:xfrm>
            <a:off x="4665345" y="2012315"/>
            <a:ext cx="2456180" cy="337185"/>
          </a:xfrm>
          <a:prstGeom prst="rect">
            <a:avLst/>
          </a:prstGeom>
        </p:spPr>
        <p:txBody>
          <a:bodyPr wrap="square">
            <a:spAutoFit/>
          </a:bodyPr>
          <a:p>
            <a:pPr defTabSz="266700"/>
            <a:r>
              <a:rPr lang="zh-CN" sz="1600">
                <a:latin typeface="Times New Roman" panose="02020603050405020304"/>
                <a:ea typeface="宋体" panose="02010600030101010101" pitchFamily="2" charset="-122"/>
              </a:rPr>
              <a:t>端口扫描检测与封禁效果</a:t>
            </a:r>
            <a:endParaRPr lang="zh-CN" altLang="en-US" sz="1600">
              <a:latin typeface="Times New Roman" panose="02020603050405020304"/>
              <a:ea typeface="宋体" panose="02010600030101010101" pitchFamily="2" charset="-122"/>
            </a:endParaRPr>
          </a:p>
        </p:txBody>
      </p:sp>
      <p:pic>
        <p:nvPicPr>
          <p:cNvPr id="61" name="图片 6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7410" y="2352675"/>
            <a:ext cx="5279390" cy="692150"/>
          </a:xfrm>
          <a:prstGeom prst="rect">
            <a:avLst/>
          </a:prstGeom>
        </p:spPr>
      </p:pic>
      <p:cxnSp>
        <p:nvCxnSpPr>
          <p:cNvPr id="62" name="直接箭头连接符 61"/>
          <p:cNvCxnSpPr/>
          <p:nvPr/>
        </p:nvCxnSpPr>
        <p:spPr>
          <a:xfrm>
            <a:off x="5803900" y="2954655"/>
            <a:ext cx="0" cy="5200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4" name="文本框 63"/>
          <p:cNvSpPr txBox="1"/>
          <p:nvPr/>
        </p:nvSpPr>
        <p:spPr>
          <a:xfrm>
            <a:off x="4925695" y="3432810"/>
            <a:ext cx="17557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600">
                <a:latin typeface="Times New Roman" panose="02020603050405020304"/>
                <a:ea typeface="宋体" panose="02010600030101010101" pitchFamily="2" charset="-122"/>
              </a:rPr>
              <a:t>SQlite 存储记录</a:t>
            </a:r>
            <a:endParaRPr lang="zh-CN" sz="1600">
              <a:latin typeface="Times New Roman" panose="02020603050405020304"/>
              <a:ea typeface="宋体" panose="02010600030101010101" pitchFamily="2" charset="-122"/>
            </a:endParaRPr>
          </a:p>
        </p:txBody>
      </p:sp>
      <p:pic>
        <p:nvPicPr>
          <p:cNvPr id="66" name="图片 6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6925" y="3769995"/>
            <a:ext cx="5279390" cy="13455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3045E"/>
          </a:solidFill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zh-CN" sz="2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VPN</a:t>
            </a:r>
            <a:r>
              <a:rPr lang="zh-CN" altLang="en-US" sz="2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展示</a:t>
            </a:r>
            <a:r>
              <a:rPr lang="zh-CN" altLang="en-US" sz="2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结果</a:t>
            </a:r>
            <a:endParaRPr lang="zh-CN" altLang="en-US" sz="26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B4D8"/>
          </a:solidFill>
        </p:spPr>
      </p:sp>
      <p:sp>
        <p:nvSpPr>
          <p:cNvPr id="24" name="Text 2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8</a:t>
            </a:r>
            <a:endParaRPr lang="en-US" sz="12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510" y="1115060"/>
            <a:ext cx="3860165" cy="158686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7340" y="1211580"/>
            <a:ext cx="2738120" cy="375729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20" y="3496945"/>
            <a:ext cx="4789170" cy="96964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91465" y="73152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1.VPN</a:t>
            </a:r>
            <a:r>
              <a:rPr lang="zh-CN" altLang="en-US"/>
              <a:t>关闭时的连接</a:t>
            </a:r>
            <a:r>
              <a:rPr lang="zh-CN" altLang="en-US"/>
              <a:t>情况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5356860" y="74168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2.VPN</a:t>
            </a:r>
            <a:r>
              <a:rPr lang="zh-CN" altLang="en-US"/>
              <a:t>开启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397510" y="308546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3.VPN</a:t>
            </a:r>
            <a:r>
              <a:rPr lang="zh-CN" altLang="en-US"/>
              <a:t>开启后的连接</a:t>
            </a:r>
            <a:r>
              <a:rPr lang="zh-CN" altLang="en-US"/>
              <a:t>情况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DIAGRAM_VIRTUALLY_FRAME" val="{&quot;height&quot;:76.31999999999998,&quot;left&quot;:424.8,&quot;top&quot;:147.6,&quot;width&quot;:280.8}"/>
</p:tagLst>
</file>

<file path=ppt/tags/tag2.xml><?xml version="1.0" encoding="utf-8"?>
<p:tagLst xmlns:p="http://schemas.openxmlformats.org/presentationml/2006/main">
  <p:tag name="KSO_WM_DIAGRAM_VIRTUALLY_FRAME" val="{&quot;height&quot;:76.31999999999998,&quot;left&quot;:424.8,&quot;top&quot;:147.6,&quot;width&quot;:280.8}"/>
</p:tagLst>
</file>

<file path=ppt/tags/tag3.xml><?xml version="1.0" encoding="utf-8"?>
<p:tagLst xmlns:p="http://schemas.openxmlformats.org/presentationml/2006/main">
  <p:tag name="KSO_WM_DIAGRAM_VIRTUALLY_FRAME" val="{&quot;height&quot;:76.31999999999998,&quot;left&quot;:424.8,&quot;top&quot;:147.6,&quot;width&quot;:280.8}"/>
</p:tagLst>
</file>

<file path=ppt/tags/tag4.xml><?xml version="1.0" encoding="utf-8"?>
<p:tagLst xmlns:p="http://schemas.openxmlformats.org/presentationml/2006/main">
  <p:tag name="KSO_WM_DIAGRAM_VIRTUALLY_FRAME" val="{&quot;height&quot;:76.31999999999998,&quot;left&quot;:424.8,&quot;top&quot;:147.6,&quot;width&quot;:280.8}"/>
</p:tagLst>
</file>

<file path=ppt/tags/tag5.xml><?xml version="1.0" encoding="utf-8"?>
<p:tagLst xmlns:p="http://schemas.openxmlformats.org/presentationml/2006/main">
  <p:tag name="KSO_WM_DIAGRAM_VIRTUALLY_FRAME" val="{&quot;height&quot;:76.31999999999998,&quot;left&quot;:424.8,&quot;top&quot;:147.6,&quot;width&quot;:280.8}"/>
</p:tagLst>
</file>

<file path=ppt/tags/tag6.xml><?xml version="1.0" encoding="utf-8"?>
<p:tagLst xmlns:p="http://schemas.openxmlformats.org/presentationml/2006/main">
  <p:tag name="KSO_WM_DIAGRAM_VIRTUALLY_FRAME" val="{&quot;height&quot;:76.31999999999998,&quot;left&quot;:424.8,&quot;top&quot;:147.6,&quot;width&quot;:280.8}"/>
</p:tagLst>
</file>

<file path=ppt/tags/tag7.xml><?xml version="1.0" encoding="utf-8"?>
<p:tagLst xmlns:p="http://schemas.openxmlformats.org/presentationml/2006/main">
  <p:tag name="KSO_WM_DIAGRAM_VIRTUALLY_FRAME" val="{&quot;height&quot;:76.31999999999998,&quot;left&quot;:424.8,&quot;top&quot;:147.6,&quot;width&quot;:280.8}"/>
</p:tagLst>
</file>

<file path=ppt/tags/tag8.xml><?xml version="1.0" encoding="utf-8"?>
<p:tagLst xmlns:p="http://schemas.openxmlformats.org/presentationml/2006/main">
  <p:tag name="KSO_WM_DIAGRAM_VIRTUALLY_FRAME" val="{&quot;height&quot;:76.31999999999998,&quot;left&quot;:424.8,&quot;top&quot;:147.6,&quot;width&quot;:280.8}"/>
</p:tagLst>
</file>

<file path=ppt/tags/tag9.xml><?xml version="1.0" encoding="utf-8"?>
<p:tagLst xmlns:p="http://schemas.openxmlformats.org/presentationml/2006/main">
  <p:tag name="KSO_WM_DIAGRAM_VIRTUALLY_FRAME" val="{&quot;height&quot;:76.31999999999998,&quot;left&quot;:424.8,&quot;top&quot;:147.6,&quot;width&quot;:280.8}"/>
</p:tagLst>
</file>

<file path=ppt/tags/tag10.xml><?xml version="1.0" encoding="utf-8"?>
<p:tagLst xmlns:p="http://schemas.openxmlformats.org/presentationml/2006/main">
  <p:tag name="KSO_WM_DIAGRAM_VIRTUALLY_FRAME" val="{&quot;height&quot;:76.31999999999998,&quot;left&quot;:424.8,&quot;top&quot;:147.6,&quot;width&quot;:280.8}"/>
</p:tagLst>
</file>

<file path=ppt/tags/tag11.xml><?xml version="1.0" encoding="utf-8"?>
<p:tagLst xmlns:p="http://schemas.openxmlformats.org/presentationml/2006/main">
  <p:tag name="KSO_WM_DIAGRAM_VIRTUALLY_FRAME" val="{&quot;height&quot;:76.31999999999998,&quot;left&quot;:424.8,&quot;top&quot;:147.6,&quot;width&quot;:280.8}"/>
</p:tagLst>
</file>

<file path=ppt/tags/tag12.xml><?xml version="1.0" encoding="utf-8"?>
<p:tagLst xmlns:p="http://schemas.openxmlformats.org/presentationml/2006/main">
  <p:tag name="KSO_WM_DIAGRAM_VIRTUALLY_FRAME" val="{&quot;height&quot;:76.31999999999998,&quot;left&quot;:424.8,&quot;top&quot;:147.6,&quot;width&quot;:280.8}"/>
</p:tagLst>
</file>

<file path=ppt/tags/tag13.xml><?xml version="1.0" encoding="utf-8"?>
<p:tagLst xmlns:p="http://schemas.openxmlformats.org/presentationml/2006/main">
  <p:tag name="KSO_WM_DIAGRAM_VIRTUALLY_FRAME" val="{&quot;height&quot;:76.31999999999998,&quot;left&quot;:424.8,&quot;top&quot;:147.6,&quot;width&quot;:280.8}"/>
</p:tagLst>
</file>

<file path=ppt/tags/tag14.xml><?xml version="1.0" encoding="utf-8"?>
<p:tagLst xmlns:p="http://schemas.openxmlformats.org/presentationml/2006/main">
  <p:tag name="KSO_WM_DIAGRAM_VIRTUALLY_FRAME" val="{&quot;height&quot;:76.31999999999998,&quot;left&quot;:424.8,&quot;top&quot;:147.6,&quot;width&quot;:280.8}"/>
</p:tagLst>
</file>

<file path=ppt/tags/tag15.xml><?xml version="1.0" encoding="utf-8"?>
<p:tagLst xmlns:p="http://schemas.openxmlformats.org/presentationml/2006/main">
  <p:tag name="KSO_WM_DIAGRAM_VIRTUALLY_FRAME" val="{&quot;height&quot;:76.31999999999998,&quot;left&quot;:424.8,&quot;top&quot;:147.6,&quot;width&quot;:280.8}"/>
</p:tagLst>
</file>

<file path=ppt/tags/tag16.xml><?xml version="1.0" encoding="utf-8"?>
<p:tagLst xmlns:p="http://schemas.openxmlformats.org/presentationml/2006/main">
  <p:tag name="KSO_WM_DIAGRAM_VIRTUALLY_FRAME" val="{&quot;height&quot;:76.31999999999998,&quot;left&quot;:424.8,&quot;top&quot;:147.6,&quot;width&quot;:280.8}"/>
</p:tagLst>
</file>

<file path=ppt/tags/tag17.xml><?xml version="1.0" encoding="utf-8"?>
<p:tagLst xmlns:p="http://schemas.openxmlformats.org/presentationml/2006/main">
  <p:tag name="KSO_WM_DIAGRAM_VIRTUALLY_FRAME" val="{&quot;height&quot;:76.31999999999998,&quot;left&quot;:424.8,&quot;top&quot;:147.6,&quot;width&quot;:280.8}"/>
</p:tagLst>
</file>

<file path=ppt/tags/tag18.xml><?xml version="1.0" encoding="utf-8"?>
<p:tagLst xmlns:p="http://schemas.openxmlformats.org/presentationml/2006/main">
  <p:tag name="KSO_WM_DIAGRAM_VIRTUALLY_FRAME" val="{&quot;height&quot;:76.31999999999998,&quot;left&quot;:424.8,&quot;top&quot;:147.6,&quot;width&quot;:280.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1513</Words>
  <Application>WPS 演示</Application>
  <PresentationFormat>On-screen Show (16:9)</PresentationFormat>
  <Paragraphs>254</Paragraphs>
  <Slides>8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4" baseType="lpstr">
      <vt:lpstr>Arial</vt:lpstr>
      <vt:lpstr>宋体</vt:lpstr>
      <vt:lpstr>Wingdings</vt:lpstr>
      <vt:lpstr>微软雅黑</vt:lpstr>
      <vt:lpstr>微软雅黑</vt:lpstr>
      <vt:lpstr>Georgia</vt:lpstr>
      <vt:lpstr>Georgia</vt:lpstr>
      <vt:lpstr>Georgia</vt:lpstr>
      <vt:lpstr>Consolas</vt:lpstr>
      <vt:lpstr>Consolas</vt:lpstr>
      <vt:lpstr>Consolas</vt:lpstr>
      <vt:lpstr>Times New Roman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校园网络仿真项目汇报</dc:title>
  <dc:creator>Campus Network Project</dc:creator>
  <dc:subject>PptxGenJS Presentation</dc:subject>
  <cp:lastModifiedBy>kevin</cp:lastModifiedBy>
  <cp:revision>88</cp:revision>
  <dcterms:created xsi:type="dcterms:W3CDTF">2026-06-07T14:14:00Z</dcterms:created>
  <dcterms:modified xsi:type="dcterms:W3CDTF">2026-06-08T05:14:29Z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AE0E5BCE054040DD9D7EE1D57633CDDF_12</vt:lpwstr>
  </property>
  <property fmtid="{D5CDD505-2E9C-101B-9397-08002B2CF9AE}" pid="3" name="KSOProductBuildVer">
    <vt:lpwstr>2052-12.1.0.26895</vt:lpwstr>
  </property>
</Properties>
</file>