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校园网络仿真项目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0E0E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Campus Network Simulation based on Mininet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虚拟校园网拓扑设计 · QoS 流量整形 · 负载均衡 · 安全策略验证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8" name="Text 6"/>
          <p:cNvSpPr/>
          <p:nvPr/>
        </p:nvSpPr>
        <p:spPr>
          <a:xfrm>
            <a:off x="914400" y="46177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计算机网络课程项目  ·  2026 年 6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7315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138160" y="1371600"/>
            <a:ext cx="731520" cy="731520"/>
          </a:xfrm>
          <a:prstGeom prst="ellipse">
            <a:avLst/>
          </a:prstGeom>
          <a:solidFill>
            <a:srgbClr val="90E0EF">
              <a:alpha val="4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146304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Shape 3"/>
          <p:cNvSpPr/>
          <p:nvPr/>
        </p:nvSpPr>
        <p:spPr>
          <a:xfrm>
            <a:off x="914400" y="1444752"/>
            <a:ext cx="384048" cy="38404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914400" y="14447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898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网络拓扑设计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66420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六区域 · 双服务器 · 三层架构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0" name="Text 8"/>
          <p:cNvSpPr/>
          <p:nvPr/>
        </p:nvSpPr>
        <p:spPr>
          <a:xfrm>
            <a:off x="914400" y="2011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956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基础连通性验证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23113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跨区域 PING 互通测试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4" name="Text 12"/>
          <p:cNvSpPr/>
          <p:nvPr/>
        </p:nvSpPr>
        <p:spPr>
          <a:xfrm>
            <a:off x="914400" y="2578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5237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QoS 消融实验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27980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HTB 两级优先级 · 流量整形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145536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8" name="Text 16"/>
          <p:cNvSpPr/>
          <p:nvPr/>
        </p:nvSpPr>
        <p:spPr>
          <a:xfrm>
            <a:off x="914400" y="3145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090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负载均衡消融实验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36499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Round Robin · Jain 公平指数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712464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2" name="Text 20"/>
          <p:cNvSpPr/>
          <p:nvPr/>
        </p:nvSpPr>
        <p:spPr>
          <a:xfrm>
            <a:off x="914400" y="37124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657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安全策略消融实验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39319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 + IDS + SQLite 审计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279392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6" name="Text 24"/>
          <p:cNvSpPr/>
          <p:nvPr/>
        </p:nvSpPr>
        <p:spPr>
          <a:xfrm>
            <a:off x="914400" y="4279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224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+ 双重 ACL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49884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校外安全接入 · 两层访问控制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网络拓扑设计</a:t>
            </a:r>
            <a:endParaRPr lang="en-US" sz="28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90970" y="2081530"/>
            <a:ext cx="1371600" cy="457200"/>
            <a:chOff x="10224" y="4536"/>
            <a:chExt cx="2160" cy="720"/>
          </a:xfrm>
        </p:grpSpPr>
        <p:sp>
          <p:nvSpPr>
            <p:cNvPr id="16" name="Shape 14"/>
            <p:cNvSpPr/>
            <p:nvPr/>
          </p:nvSpPr>
          <p:spPr>
            <a:xfrm>
              <a:off x="10224" y="4536"/>
              <a:ext cx="2160" cy="720"/>
            </a:xfrm>
            <a:prstGeom prst="roundRect">
              <a:avLst>
                <a:gd name="adj" fmla="val 16000"/>
              </a:avLst>
            </a:prstGeom>
            <a:solidFill>
              <a:srgbClr val="03045E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10224" y="4536"/>
              <a:ext cx="216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核心路由器 r1</a:t>
              </a:r>
              <a:endParaRPr lang="en-US" sz="900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259705" y="3486785"/>
            <a:ext cx="3749040" cy="411480"/>
            <a:chOff x="8064" y="1656"/>
            <a:chExt cx="5904" cy="648"/>
          </a:xfrm>
        </p:grpSpPr>
        <p:sp>
          <p:nvSpPr>
            <p:cNvPr id="18" name="Shape 16"/>
            <p:cNvSpPr/>
            <p:nvPr/>
          </p:nvSpPr>
          <p:spPr>
            <a:xfrm>
              <a:off x="8064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8064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宿舍 (10.0.0.0/20)</a:t>
              </a:r>
              <a:endParaRPr lang="en-US" sz="7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0152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10152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教学 (10.0.16.0/20)</a:t>
              </a:r>
              <a:endParaRPr lang="en-US" sz="7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240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12240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图书馆 (10.0.32.0/23)</a:t>
              </a:r>
              <a:endParaRPr lang="en-US" sz="700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259705" y="4155440"/>
            <a:ext cx="3749040" cy="411480"/>
            <a:chOff x="8064" y="3096"/>
            <a:chExt cx="5904" cy="648"/>
          </a:xfrm>
        </p:grpSpPr>
        <p:sp>
          <p:nvSpPr>
            <p:cNvPr id="25" name="Shape 23"/>
            <p:cNvSpPr/>
            <p:nvPr/>
          </p:nvSpPr>
          <p:spPr>
            <a:xfrm>
              <a:off x="8064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B4D8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8064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办公 (10.0.34.0/24)</a:t>
              </a:r>
              <a:endParaRPr lang="en-US" sz="7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152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E76F51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10152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财务 (10.0.35.0/26)</a:t>
              </a:r>
              <a:endParaRPr lang="en-US" sz="7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240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E76F51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12240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人事 (10.0.35.0/26)</a:t>
              </a:r>
              <a:endParaRPr lang="en-US" sz="7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373370" y="903605"/>
            <a:ext cx="3566160" cy="502920"/>
            <a:chOff x="8540" y="5753"/>
            <a:chExt cx="5616" cy="792"/>
          </a:xfrm>
        </p:grpSpPr>
        <p:sp>
          <p:nvSpPr>
            <p:cNvPr id="31" name="Shape 29"/>
            <p:cNvSpPr/>
            <p:nvPr/>
          </p:nvSpPr>
          <p:spPr>
            <a:xfrm>
              <a:off x="8540" y="5753"/>
              <a:ext cx="5616" cy="792"/>
            </a:xfrm>
            <a:prstGeom prst="roundRect">
              <a:avLst>
                <a:gd name="adj" fmla="val 9091"/>
              </a:avLst>
            </a:prstGeom>
            <a:solidFill>
              <a:srgbClr val="90E0EF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649" y="5862"/>
              <a:ext cx="5397" cy="5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3045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Server1 + Server2   (10.0.60.0/28, 10.0.60.16/28)</a:t>
              </a:r>
              <a:endParaRPr lang="en-US" sz="9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200" dirty="0"/>
          </a:p>
        </p:txBody>
      </p:sp>
      <p:pic>
        <p:nvPicPr>
          <p:cNvPr id="37" name="图片 36" descr="画图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972820"/>
            <a:ext cx="5027295" cy="2827655"/>
          </a:xfrm>
          <a:prstGeom prst="rect">
            <a:avLst/>
          </a:prstGeom>
        </p:spPr>
      </p:pic>
      <p:cxnSp>
        <p:nvCxnSpPr>
          <p:cNvPr id="44" name="直接箭头连接符 43"/>
          <p:cNvCxnSpPr/>
          <p:nvPr/>
        </p:nvCxnSpPr>
        <p:spPr>
          <a:xfrm flipH="1" flipV="1">
            <a:off x="7171690" y="2614295"/>
            <a:ext cx="9525" cy="695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7171690" y="1550035"/>
            <a:ext cx="9525" cy="455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基础连通性验证 — PING 测试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验证所有业务区域间的基础 IP 层连通性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测试跨子网路由转发是否正常工作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0253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验证三层交换机 + 核心路由器转发路径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确认双服务器可达性 (ICMP Echo/Reply)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3931920" cy="2028825"/>
          </a:xfrm>
          <a:prstGeom prst="roundRect">
            <a:avLst>
              <a:gd name="adj" fmla="val 5000"/>
            </a:avLst>
          </a:prstGeom>
          <a:solidFill>
            <a:srgbClr val="F0F7FF"/>
          </a:solidFill>
        </p:spPr>
      </p:sp>
      <p:sp>
        <p:nvSpPr>
          <p:cNvPr id="11" name="Text 9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测试路径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" y="3246120"/>
            <a:ext cx="34213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1.dorm1 → teach1  (宿舍1 ↔ 教学1)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540" y="3502025"/>
            <a:ext cx="340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2.office1 → finance1 (办公1 → 财务1)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540" y="3757930"/>
            <a:ext cx="3431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3.dorm1 → dorm2 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2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445" y="920115"/>
            <a:ext cx="2396490" cy="71564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45" y="1984375"/>
            <a:ext cx="2396490" cy="6972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45" y="2834640"/>
            <a:ext cx="2396490" cy="709930"/>
          </a:xfrm>
          <a:prstGeom prst="rect">
            <a:avLst/>
          </a:prstGeom>
        </p:spPr>
      </p:pic>
      <p:cxnSp>
        <p:nvCxnSpPr>
          <p:cNvPr id="31" name="直接箭头连接符 30"/>
          <p:cNvCxnSpPr/>
          <p:nvPr/>
        </p:nvCxnSpPr>
        <p:spPr>
          <a:xfrm flipV="1">
            <a:off x="2963545" y="960120"/>
            <a:ext cx="1612900" cy="2418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3095625" y="2002790"/>
            <a:ext cx="1480820" cy="1638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2963545" y="2834640"/>
            <a:ext cx="1612900" cy="10509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13"/>
          <p:cNvSpPr/>
          <p:nvPr/>
        </p:nvSpPr>
        <p:spPr>
          <a:xfrm>
            <a:off x="640080" y="4032250"/>
            <a:ext cx="340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4.dorm1 → server1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服务器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Text 15"/>
          <p:cNvSpPr/>
          <p:nvPr/>
        </p:nvSpPr>
        <p:spPr>
          <a:xfrm>
            <a:off x="640080" y="4288155"/>
            <a:ext cx="3431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5.dorm1 → server2 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服务器2)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QoS 消融实验 — HTB 两级优先级流量整形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93192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7" name="Text 5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46304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保障带宽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3931920" cy="32004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2" name="Text 10"/>
          <p:cNvSpPr/>
          <p:nvPr/>
        </p:nvSpPr>
        <p:spPr>
          <a:xfrm>
            <a:off x="640080" y="18105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 (finance)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81051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prio=0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81051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Mbps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81051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Mbps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57984"/>
            <a:ext cx="3931920" cy="4114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Text 15"/>
          <p:cNvSpPr/>
          <p:nvPr/>
        </p:nvSpPr>
        <p:spPr>
          <a:xfrm>
            <a:off x="640080" y="215798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办公/教学/图书馆/宿舍/人事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1579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prio=7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157984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Mbps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1579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Mbps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7066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HTB (Hierarchy Token Bucket) 两级优先级队列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00837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财务区域 prio=0 独享最高优先级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3101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 class 添加 prio 参数实现优先级调度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低优先级区域仅在财务处下限满足后获得剩余带宽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26" name="Text 24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66360" y="1508760"/>
            <a:ext cx="356616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28" name="Text 26"/>
          <p:cNvSpPr/>
          <p:nvPr/>
        </p:nvSpPr>
        <p:spPr>
          <a:xfrm>
            <a:off x="516636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Final-HTB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2" name="Text 30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finance 带宽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4" name="Text 32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竞争均分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6" name="Text 34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Mbps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dorm 带宽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竞争均分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Mbps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4" name="Text 42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teach 带宽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6" name="Text 44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竞争均分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8" name="Text 46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Mbps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lib 带宽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竞争均分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Mbps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66360" y="3456432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</p:spPr>
      </p:sp>
      <p:sp>
        <p:nvSpPr>
          <p:cNvPr id="56" name="Text 54"/>
          <p:cNvSpPr/>
          <p:nvPr/>
        </p:nvSpPr>
        <p:spPr>
          <a:xfrm>
            <a:off x="5349240" y="350215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核心结论: 财务区域获得 60% 带宽保障，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低优先级区域仅 10% 保活带宽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实验方法: Final-HTB (无 QoS) vs Final (HTB 两级优先级) · iperf3 TCP 测试 · c1=12Mbps · c2=2Mbps · ceil=20Mbps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负载均衡消融实验 — Round Robin 调度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03045E"/>
          </a:solidFill>
        </p:spPr>
      </p:sp>
      <p:sp>
        <p:nvSpPr>
          <p:cNvPr id="7" name="Text 5"/>
          <p:cNvSpPr/>
          <p:nvPr/>
        </p:nvSpPr>
        <p:spPr>
          <a:xfrm>
            <a:off x="822960" y="15087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Round Robin 调度器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21031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</p:spPr>
      </p:sp>
      <p:sp>
        <p:nvSpPr>
          <p:cNvPr id="10" name="Text 8"/>
          <p:cNvSpPr/>
          <p:nvPr/>
        </p:nvSpPr>
        <p:spPr>
          <a:xfrm>
            <a:off x="1280160" y="21031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Server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10.0.60.2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</p:spPr>
      </p:sp>
      <p:sp>
        <p:nvSpPr>
          <p:cNvPr id="12" name="Text 10"/>
          <p:cNvSpPr/>
          <p:nvPr/>
        </p:nvSpPr>
        <p:spPr>
          <a:xfrm>
            <a:off x="3200400" y="21031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Server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10.0.60.18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双服务器对称端口 (iperf3 5201-5207)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906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互斥锁保护共享 Round Robin 索引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Jain 公平指数评估负载分布均匀性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9417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static / round_robin / random 三种算法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FF8E1"/>
          </a:solidFill>
        </p:spPr>
      </p:sp>
      <p:sp>
        <p:nvSpPr>
          <p:cNvPr id="18" name="Text 16"/>
          <p:cNvSpPr/>
          <p:nvPr/>
        </p:nvSpPr>
        <p:spPr>
          <a:xfrm>
            <a:off x="822960" y="384048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8C0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 = (Σx_i)² / (n · Σx_i²)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20" name="Text 18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66360" y="1508760"/>
            <a:ext cx="356616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22" name="Text 20"/>
          <p:cNvSpPr/>
          <p:nvPr/>
        </p:nvSpPr>
        <p:spPr>
          <a:xfrm>
            <a:off x="516636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Final-LB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6" name="Text 24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 负载 (Mbps)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Text 26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~17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0" name="Text 28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~8.5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S2 负载 (Mbps)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~8.5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8" name="Text 36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Jain 公平指数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0" name="Text 38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0.50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2" name="Text 40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均衡效果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单点承载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均分负载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66360" y="3456432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</p:spPr>
      </p:sp>
      <p:sp>
        <p:nvSpPr>
          <p:cNvPr id="50" name="Text 48"/>
          <p:cNvSpPr/>
          <p:nvPr/>
        </p:nvSpPr>
        <p:spPr>
          <a:xfrm>
            <a:off x="5349240" y="350215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核心结论: Round Robin 使 Jain 指数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0.50 → 1.00，双服务器负载完全均衡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实验方法: Final-LB (无负载均衡) vs Final (Round Robin) · 泊松流量模型 λ=0.05 · iperf3 多客户端请求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安全策略消融实验 — Flood + IDS + 审计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ICMP Flood 防护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iptables limit 1/s burst=5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 ESTABLISHED 之前，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强制所有 ICMP 先经限速检查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4963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端口扫描检测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432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10s 滑动窗口 · 阈值 20 端口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触发自动封禁 300s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双向 iptables DROP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4107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安全审计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6576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 FLOOD / PORT_SCAN / BAN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事件类型分布统计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完整审计溯源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19" name="Text 17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 (对照组 → 实验组)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508760"/>
            <a:ext cx="356616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21" name="Text 19"/>
          <p:cNvSpPr/>
          <p:nvPr/>
        </p:nvSpPr>
        <p:spPr>
          <a:xfrm>
            <a:off x="5166360" y="15087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1508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无安全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1508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有安全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1874520"/>
            <a:ext cx="137160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5" name="Text 23"/>
          <p:cNvSpPr/>
          <p:nvPr/>
        </p:nvSpPr>
        <p:spPr>
          <a:xfrm>
            <a:off x="5166360" y="18745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ICMP Flood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1874520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7" name="Text 25"/>
          <p:cNvSpPr/>
          <p:nvPr/>
        </p:nvSpPr>
        <p:spPr>
          <a:xfrm>
            <a:off x="6537960" y="18745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40/40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1874520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9" name="Text 27"/>
          <p:cNvSpPr/>
          <p:nvPr/>
        </p:nvSpPr>
        <p:spPr>
          <a:xfrm>
            <a:off x="7635240" y="18745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5/40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2212848"/>
            <a:ext cx="1371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5166360" y="221284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端口扫描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2212848"/>
            <a:ext cx="10972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6537960" y="22128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30/30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2212848"/>
            <a:ext cx="10972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7635240" y="22128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20/30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2551176"/>
            <a:ext cx="137160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7" name="Text 35"/>
          <p:cNvSpPr/>
          <p:nvPr/>
        </p:nvSpPr>
        <p:spPr>
          <a:xfrm>
            <a:off x="5166360" y="255117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扫描检测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2551176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9" name="Text 37"/>
          <p:cNvSpPr/>
          <p:nvPr/>
        </p:nvSpPr>
        <p:spPr>
          <a:xfrm>
            <a:off x="6537960" y="255117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35240" y="2551176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1" name="Text 39"/>
          <p:cNvSpPr/>
          <p:nvPr/>
        </p:nvSpPr>
        <p:spPr>
          <a:xfrm>
            <a:off x="7635240" y="255117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66360" y="2889504"/>
            <a:ext cx="1371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5166360" y="288950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自动封禁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2889504"/>
            <a:ext cx="10972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6537960" y="288950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35240" y="2889504"/>
            <a:ext cx="10972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7635240" y="288950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第20端口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66360" y="3227832"/>
            <a:ext cx="137160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9" name="Text 47"/>
          <p:cNvSpPr/>
          <p:nvPr/>
        </p:nvSpPr>
        <p:spPr>
          <a:xfrm>
            <a:off x="5166360" y="322783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事件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227832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1" name="Text 49"/>
          <p:cNvSpPr/>
          <p:nvPr/>
        </p:nvSpPr>
        <p:spPr>
          <a:xfrm>
            <a:off x="6537960" y="3227832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35240" y="3227832"/>
            <a:ext cx="109728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3" name="Text 51"/>
          <p:cNvSpPr/>
          <p:nvPr/>
        </p:nvSpPr>
        <p:spPr>
          <a:xfrm>
            <a:off x="7635240" y="3227832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66360" y="3703320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</p:spPr>
      </p:sp>
      <p:sp>
        <p:nvSpPr>
          <p:cNvPr id="55" name="Text 53"/>
          <p:cNvSpPr/>
          <p:nvPr/>
        </p:nvSpPr>
        <p:spPr>
          <a:xfrm>
            <a:off x="5303520" y="374904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审计记录: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03520" y="395935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FLOOD (DROP 35包) → PORT_SCAN (20端口)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BAN (封禁 300s)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实验方法: Final-Security (仅 HTB QoS) vs Final (ACL+Flood防护+端口扫描+SQLite审计)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+ 双重 ACL 安全策略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1A1A2E"/>
          </a:solidFill>
        </p:spPr>
      </p:sp>
      <p:sp>
        <p:nvSpPr>
          <p:cNvPr id="5" name="Shape 3"/>
          <p:cNvSpPr/>
          <p:nvPr/>
        </p:nvSpPr>
        <p:spPr>
          <a:xfrm>
            <a:off x="2057400" y="1920240"/>
            <a:ext cx="1280160" cy="1280160"/>
          </a:xfrm>
          <a:prstGeom prst="ellipse">
            <a:avLst/>
          </a:prstGeom>
          <a:solidFill>
            <a:srgbClr val="FFFFFF">
              <a:alpha val="1500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92024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+ 双重 ACL 演示视频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7947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（待插入录屏视频，届时对着视频讲解）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9601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10" name="Text 8"/>
          <p:cNvSpPr/>
          <p:nvPr/>
        </p:nvSpPr>
        <p:spPr>
          <a:xfrm>
            <a:off x="5440680" y="1051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机制说明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40680" y="146304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E76F51"/>
          </a:solidFill>
        </p:spPr>
      </p:sp>
      <p:sp>
        <p:nvSpPr>
          <p:cNvPr id="12" name="Text 10"/>
          <p:cNvSpPr/>
          <p:nvPr/>
        </p:nvSpPr>
        <p:spPr>
          <a:xfrm>
            <a:off x="5440680" y="1463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Layer 1  外部隔离 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90195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认证解除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2121408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0077B6"/>
          </a:solidFill>
        </p:spPr>
      </p:sp>
      <p:sp>
        <p:nvSpPr>
          <p:cNvPr id="15" name="Text 13"/>
          <p:cNvSpPr/>
          <p:nvPr/>
        </p:nvSpPr>
        <p:spPr>
          <a:xfrm>
            <a:off x="5440680" y="212140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Layer 2  校内精细化 ACL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697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三阶段接入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297180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身份认证 — 验证校外用户凭据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24612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身份切换 — 切换到校内身份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352044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权限授权 — 精细化 ACL 策略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3858768"/>
            <a:ext cx="3108960" cy="256032"/>
          </a:xfrm>
          <a:prstGeom prst="roundRect">
            <a:avLst>
              <a:gd name="adj" fmla="val 10714"/>
            </a:avLst>
          </a:prstGeom>
          <a:solidFill>
            <a:srgbClr val="FFF8E1"/>
          </a:solidFill>
        </p:spPr>
      </p:sp>
      <p:sp>
        <p:nvSpPr>
          <p:cNvPr id="21" name="Text 19"/>
          <p:cNvSpPr/>
          <p:nvPr/>
        </p:nvSpPr>
        <p:spPr>
          <a:xfrm>
            <a:off x="5440680" y="38587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8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拓扑: home_pc → s_home → r1 (20Mbps/10ms)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演示命令: enable_vpn("home_pc") · show_identity() · access_resource() · 双重 ACL 规则顺序验证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  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28016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Shape 2"/>
          <p:cNvSpPr/>
          <p:nvPr/>
        </p:nvSpPr>
        <p:spPr>
          <a:xfrm>
            <a:off x="411480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077B6">
              <a:alpha val="4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13258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完整仿真拓扑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区域 + 双服务器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接入-汇聚-核心三层架构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 VLSM 子网划分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077B6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383280" y="13258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HTB QoS 流量整形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两级优先级队列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财务最高优先 60% 带宽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低优先级保活 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077B6">
              <a:alpha val="4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217920" y="13258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132588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Round Robin 负载均衡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双服务器对称端口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Jain 公平指数 0.50 → 1.00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互斥锁保护共享索引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88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077B6">
              <a:alpha val="4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48640" y="2880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88036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三重安全防护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 白/黑名单 + IDS 检测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ICMP Flood 限速 (5/40)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审计 3 条事件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077B6">
              <a:alpha val="4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383280" y="2880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288036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+ 双重 ACL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外部隔离 DROP + 校内精细化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三阶段接入: 认证→切换→授权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校外低带宽安全互通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25196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WPS 演示</Application>
  <PresentationFormat>On-screen Show (16:9)</PresentationFormat>
  <Paragraphs>383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校园网络仿真项目汇报</dc:title>
  <dc:creator>Campus Network Project</dc:creator>
  <dc:subject>PptxGenJS Presentation</dc:subject>
  <cp:lastModifiedBy>kevin</cp:lastModifiedBy>
  <cp:revision>20</cp:revision>
  <dcterms:created xsi:type="dcterms:W3CDTF">2026-06-07T14:14:00Z</dcterms:created>
  <dcterms:modified xsi:type="dcterms:W3CDTF">2026-06-07T14:46:57Z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AE0E5BCE054040DD9D7EE1D57633CDDF_12</vt:lpwstr>
  </property>
  <property fmtid="{D5CDD505-2E9C-101B-9397-08002B2CF9AE}" pid="3" name="KSOProductBuildVer">
    <vt:lpwstr>2052-12.1.0.26375</vt:lpwstr>
  </property>
</Properties>
</file>