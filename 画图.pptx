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21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1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1" Type="http://schemas.openxmlformats.org/officeDocument/2006/relationships/slideLayout" Target="../slideLayouts/slideLayout1.xml"/><Relationship Id="rId90" Type="http://schemas.openxmlformats.org/officeDocument/2006/relationships/tags" Target="../tags/tag86.xml"/><Relationship Id="rId9" Type="http://schemas.openxmlformats.org/officeDocument/2006/relationships/tags" Target="../tags/tag7.xml"/><Relationship Id="rId89" Type="http://schemas.openxmlformats.org/officeDocument/2006/relationships/tags" Target="../tags/tag85.xml"/><Relationship Id="rId88" Type="http://schemas.openxmlformats.org/officeDocument/2006/relationships/tags" Target="../tags/tag84.xml"/><Relationship Id="rId87" Type="http://schemas.openxmlformats.org/officeDocument/2006/relationships/tags" Target="../tags/tag83.xml"/><Relationship Id="rId86" Type="http://schemas.openxmlformats.org/officeDocument/2006/relationships/tags" Target="../tags/tag82.xml"/><Relationship Id="rId85" Type="http://schemas.openxmlformats.org/officeDocument/2006/relationships/image" Target="../media/image4.jpeg"/><Relationship Id="rId84" Type="http://schemas.openxmlformats.org/officeDocument/2006/relationships/tags" Target="../tags/tag81.xml"/><Relationship Id="rId83" Type="http://schemas.openxmlformats.org/officeDocument/2006/relationships/tags" Target="../tags/tag80.xml"/><Relationship Id="rId82" Type="http://schemas.openxmlformats.org/officeDocument/2006/relationships/tags" Target="../tags/tag79.xml"/><Relationship Id="rId81" Type="http://schemas.openxmlformats.org/officeDocument/2006/relationships/tags" Target="../tags/tag78.xml"/><Relationship Id="rId80" Type="http://schemas.openxmlformats.org/officeDocument/2006/relationships/tags" Target="../tags/tag77.xml"/><Relationship Id="rId8" Type="http://schemas.openxmlformats.org/officeDocument/2006/relationships/tags" Target="../tags/tag6.xml"/><Relationship Id="rId79" Type="http://schemas.openxmlformats.org/officeDocument/2006/relationships/tags" Target="../tags/tag76.xml"/><Relationship Id="rId78" Type="http://schemas.openxmlformats.org/officeDocument/2006/relationships/tags" Target="../tags/tag75.xml"/><Relationship Id="rId77" Type="http://schemas.openxmlformats.org/officeDocument/2006/relationships/tags" Target="../tags/tag74.xml"/><Relationship Id="rId76" Type="http://schemas.openxmlformats.org/officeDocument/2006/relationships/tags" Target="../tags/tag73.xml"/><Relationship Id="rId75" Type="http://schemas.openxmlformats.org/officeDocument/2006/relationships/tags" Target="../tags/tag72.xml"/><Relationship Id="rId74" Type="http://schemas.openxmlformats.org/officeDocument/2006/relationships/tags" Target="../tags/tag71.xml"/><Relationship Id="rId73" Type="http://schemas.openxmlformats.org/officeDocument/2006/relationships/tags" Target="../tags/tag70.xml"/><Relationship Id="rId72" Type="http://schemas.openxmlformats.org/officeDocument/2006/relationships/tags" Target="../tags/tag69.xml"/><Relationship Id="rId71" Type="http://schemas.openxmlformats.org/officeDocument/2006/relationships/tags" Target="../tags/tag68.xml"/><Relationship Id="rId70" Type="http://schemas.openxmlformats.org/officeDocument/2006/relationships/tags" Target="../tags/tag67.xml"/><Relationship Id="rId7" Type="http://schemas.openxmlformats.org/officeDocument/2006/relationships/tags" Target="../tags/tag5.xml"/><Relationship Id="rId69" Type="http://schemas.openxmlformats.org/officeDocument/2006/relationships/tags" Target="../tags/tag66.xml"/><Relationship Id="rId68" Type="http://schemas.openxmlformats.org/officeDocument/2006/relationships/tags" Target="../tags/tag65.xml"/><Relationship Id="rId67" Type="http://schemas.openxmlformats.org/officeDocument/2006/relationships/tags" Target="../tags/tag64.xml"/><Relationship Id="rId66" Type="http://schemas.openxmlformats.org/officeDocument/2006/relationships/tags" Target="../tags/tag63.xml"/><Relationship Id="rId65" Type="http://schemas.openxmlformats.org/officeDocument/2006/relationships/tags" Target="../tags/tag62.xml"/><Relationship Id="rId64" Type="http://schemas.openxmlformats.org/officeDocument/2006/relationships/tags" Target="../tags/tag61.xml"/><Relationship Id="rId63" Type="http://schemas.openxmlformats.org/officeDocument/2006/relationships/tags" Target="../tags/tag60.xml"/><Relationship Id="rId62" Type="http://schemas.openxmlformats.org/officeDocument/2006/relationships/tags" Target="../tags/tag59.xml"/><Relationship Id="rId61" Type="http://schemas.openxmlformats.org/officeDocument/2006/relationships/tags" Target="../tags/tag58.xml"/><Relationship Id="rId60" Type="http://schemas.openxmlformats.org/officeDocument/2006/relationships/tags" Target="../tags/tag57.xml"/><Relationship Id="rId6" Type="http://schemas.openxmlformats.org/officeDocument/2006/relationships/tags" Target="../tags/tag4.xml"/><Relationship Id="rId59" Type="http://schemas.openxmlformats.org/officeDocument/2006/relationships/tags" Target="../tags/tag56.xml"/><Relationship Id="rId58" Type="http://schemas.openxmlformats.org/officeDocument/2006/relationships/tags" Target="../tags/tag55.xml"/><Relationship Id="rId57" Type="http://schemas.openxmlformats.org/officeDocument/2006/relationships/tags" Target="../tags/tag54.xml"/><Relationship Id="rId56" Type="http://schemas.openxmlformats.org/officeDocument/2006/relationships/tags" Target="../tags/tag53.xml"/><Relationship Id="rId55" Type="http://schemas.openxmlformats.org/officeDocument/2006/relationships/tags" Target="../tags/tag52.xml"/><Relationship Id="rId54" Type="http://schemas.openxmlformats.org/officeDocument/2006/relationships/tags" Target="../tags/tag51.xml"/><Relationship Id="rId53" Type="http://schemas.openxmlformats.org/officeDocument/2006/relationships/tags" Target="../tags/tag50.xml"/><Relationship Id="rId52" Type="http://schemas.openxmlformats.org/officeDocument/2006/relationships/tags" Target="../tags/tag49.xml"/><Relationship Id="rId51" Type="http://schemas.openxmlformats.org/officeDocument/2006/relationships/tags" Target="../tags/tag48.xml"/><Relationship Id="rId50" Type="http://schemas.openxmlformats.org/officeDocument/2006/relationships/tags" Target="../tags/tag47.xml"/><Relationship Id="rId5" Type="http://schemas.openxmlformats.org/officeDocument/2006/relationships/image" Target="../media/image2.jpeg"/><Relationship Id="rId49" Type="http://schemas.openxmlformats.org/officeDocument/2006/relationships/tags" Target="../tags/tag46.xml"/><Relationship Id="rId48" Type="http://schemas.openxmlformats.org/officeDocument/2006/relationships/tags" Target="../tags/tag45.xml"/><Relationship Id="rId47" Type="http://schemas.openxmlformats.org/officeDocument/2006/relationships/tags" Target="../tags/tag44.xml"/><Relationship Id="rId46" Type="http://schemas.openxmlformats.org/officeDocument/2006/relationships/tags" Target="../tags/tag43.xml"/><Relationship Id="rId45" Type="http://schemas.openxmlformats.org/officeDocument/2006/relationships/tags" Target="../tags/tag42.xml"/><Relationship Id="rId44" Type="http://schemas.openxmlformats.org/officeDocument/2006/relationships/tags" Target="../tags/tag41.xml"/><Relationship Id="rId43" Type="http://schemas.openxmlformats.org/officeDocument/2006/relationships/tags" Target="../tags/tag40.xml"/><Relationship Id="rId42" Type="http://schemas.openxmlformats.org/officeDocument/2006/relationships/tags" Target="../tags/tag39.xml"/><Relationship Id="rId41" Type="http://schemas.openxmlformats.org/officeDocument/2006/relationships/tags" Target="../tags/tag38.xml"/><Relationship Id="rId40" Type="http://schemas.openxmlformats.org/officeDocument/2006/relationships/tags" Target="../tags/tag37.xml"/><Relationship Id="rId4" Type="http://schemas.openxmlformats.org/officeDocument/2006/relationships/tags" Target="../tags/tag3.xml"/><Relationship Id="rId39" Type="http://schemas.openxmlformats.org/officeDocument/2006/relationships/tags" Target="../tags/tag36.xml"/><Relationship Id="rId38" Type="http://schemas.openxmlformats.org/officeDocument/2006/relationships/tags" Target="../tags/tag35.xml"/><Relationship Id="rId37" Type="http://schemas.openxmlformats.org/officeDocument/2006/relationships/tags" Target="../tags/tag34.xml"/><Relationship Id="rId36" Type="http://schemas.openxmlformats.org/officeDocument/2006/relationships/tags" Target="../tags/tag33.xml"/><Relationship Id="rId35" Type="http://schemas.openxmlformats.org/officeDocument/2006/relationships/tags" Target="../tags/tag32.xml"/><Relationship Id="rId34" Type="http://schemas.openxmlformats.org/officeDocument/2006/relationships/tags" Target="../tags/tag31.xml"/><Relationship Id="rId33" Type="http://schemas.openxmlformats.org/officeDocument/2006/relationships/tags" Target="../tags/tag30.xml"/><Relationship Id="rId32" Type="http://schemas.openxmlformats.org/officeDocument/2006/relationships/tags" Target="../tags/tag29.xml"/><Relationship Id="rId31" Type="http://schemas.openxmlformats.org/officeDocument/2006/relationships/tags" Target="../tags/tag28.xml"/><Relationship Id="rId30" Type="http://schemas.openxmlformats.org/officeDocument/2006/relationships/tags" Target="../tags/tag27.xml"/><Relationship Id="rId3" Type="http://schemas.openxmlformats.org/officeDocument/2006/relationships/tags" Target="../tags/tag2.xml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1.jpe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image" Target="../media/image3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jpeg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114.xml"/><Relationship Id="rId31" Type="http://schemas.openxmlformats.org/officeDocument/2006/relationships/tags" Target="../tags/tag113.xml"/><Relationship Id="rId30" Type="http://schemas.openxmlformats.org/officeDocument/2006/relationships/tags" Target="../tags/tag112.xml"/><Relationship Id="rId3" Type="http://schemas.openxmlformats.org/officeDocument/2006/relationships/tags" Target="../tags/tag89.xml"/><Relationship Id="rId29" Type="http://schemas.openxmlformats.org/officeDocument/2006/relationships/tags" Target="../tags/tag111.xml"/><Relationship Id="rId28" Type="http://schemas.openxmlformats.org/officeDocument/2006/relationships/tags" Target="../tags/tag110.xml"/><Relationship Id="rId27" Type="http://schemas.openxmlformats.org/officeDocument/2006/relationships/tags" Target="../tags/tag109.xml"/><Relationship Id="rId26" Type="http://schemas.openxmlformats.org/officeDocument/2006/relationships/tags" Target="../tags/tag108.xml"/><Relationship Id="rId25" Type="http://schemas.openxmlformats.org/officeDocument/2006/relationships/tags" Target="../tags/tag107.xml"/><Relationship Id="rId24" Type="http://schemas.openxmlformats.org/officeDocument/2006/relationships/tags" Target="../tags/tag106.xml"/><Relationship Id="rId23" Type="http://schemas.openxmlformats.org/officeDocument/2006/relationships/tags" Target="../tags/tag105.xml"/><Relationship Id="rId22" Type="http://schemas.openxmlformats.org/officeDocument/2006/relationships/tags" Target="../tags/tag104.xml"/><Relationship Id="rId21" Type="http://schemas.openxmlformats.org/officeDocument/2006/relationships/tags" Target="../tags/tag103.xml"/><Relationship Id="rId20" Type="http://schemas.openxmlformats.org/officeDocument/2006/relationships/tags" Target="../tags/tag102.xml"/><Relationship Id="rId2" Type="http://schemas.openxmlformats.org/officeDocument/2006/relationships/tags" Target="../tags/tag88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image" Target="../media/image4.jpeg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图片 22" descr="路由器，单图标在大纲风格。路由器矢量符号股票插图网页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73600" y="1509395"/>
            <a:ext cx="1307465" cy="1307465"/>
          </a:xfrm>
          <a:prstGeom prst="rect">
            <a:avLst/>
          </a:prstGeom>
        </p:spPr>
      </p:pic>
      <p:cxnSp>
        <p:nvCxnSpPr>
          <p:cNvPr id="28" name="直接连接符 27"/>
          <p:cNvCxnSpPr>
            <a:endCxn id="24" idx="0"/>
          </p:cNvCxnSpPr>
          <p:nvPr>
            <p:custDataLst>
              <p:tags r:id="rId3"/>
            </p:custDataLst>
          </p:nvPr>
        </p:nvCxnSpPr>
        <p:spPr>
          <a:xfrm flipH="1">
            <a:off x="2933700" y="2556510"/>
            <a:ext cx="1835150" cy="21577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8" name="组合 47"/>
          <p:cNvGrpSpPr/>
          <p:nvPr/>
        </p:nvGrpSpPr>
        <p:grpSpPr>
          <a:xfrm>
            <a:off x="92710" y="4714240"/>
            <a:ext cx="4431665" cy="2054225"/>
            <a:chOff x="889" y="6550"/>
            <a:chExt cx="6979" cy="3235"/>
          </a:xfrm>
        </p:grpSpPr>
        <p:pic>
          <p:nvPicPr>
            <p:cNvPr id="5" name="图片 4" descr="空白的,显示器,分离着色,白色,正面视角,边框,水平画幅,无人,计算机制图,计算机图形学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761" y="8620"/>
              <a:ext cx="854" cy="641"/>
            </a:xfrm>
            <a:prstGeom prst="rect">
              <a:avLst/>
            </a:prstGeom>
          </p:spPr>
        </p:pic>
        <p:pic>
          <p:nvPicPr>
            <p:cNvPr id="6" name="图片 5" descr="空白的,显示器,分离着色,白色,正面视角,边框,水平画幅,无人,计算机制图,计算机图形学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3896" y="8620"/>
              <a:ext cx="854" cy="641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>
              <p:custDataLst>
                <p:tags r:id="rId7"/>
              </p:custDataLst>
            </p:nvPr>
          </p:nvSpPr>
          <p:spPr>
            <a:xfrm>
              <a:off x="2266" y="9351"/>
              <a:ext cx="145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宿舍终端</a:t>
              </a:r>
              <a:r>
                <a:rPr lang="en-US" altLang="zh-CN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1</a:t>
              </a:r>
              <a:endPara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8"/>
              </p:custDataLst>
            </p:nvPr>
          </p:nvSpPr>
          <p:spPr>
            <a:xfrm>
              <a:off x="3720" y="9351"/>
              <a:ext cx="154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宿舍终端</a:t>
              </a:r>
              <a:r>
                <a:rPr lang="en-US" altLang="zh-CN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2</a:t>
              </a:r>
              <a:endPara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  <p:pic>
          <p:nvPicPr>
            <p:cNvPr id="14" name="图片 13" descr="交换机8端口千兆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rcRect l="12309" t="20957" r="9503" b="20096"/>
            <a:stretch>
              <a:fillRect/>
            </a:stretch>
          </p:blipFill>
          <p:spPr>
            <a:xfrm>
              <a:off x="3181" y="7588"/>
              <a:ext cx="1226" cy="616"/>
            </a:xfrm>
            <a:prstGeom prst="rect">
              <a:avLst/>
            </a:prstGeom>
          </p:spPr>
        </p:pic>
        <p:cxnSp>
          <p:nvCxnSpPr>
            <p:cNvPr id="15" name="直接连接符 14"/>
            <p:cNvCxnSpPr>
              <a:stCxn id="14" idx="2"/>
              <a:endCxn id="5" idx="0"/>
            </p:cNvCxnSpPr>
            <p:nvPr>
              <p:custDataLst>
                <p:tags r:id="rId11"/>
              </p:custDataLst>
            </p:nvPr>
          </p:nvCxnSpPr>
          <p:spPr>
            <a:xfrm flipH="1">
              <a:off x="3188" y="8204"/>
              <a:ext cx="606" cy="4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6" idx="0"/>
              <a:endCxn id="14" idx="2"/>
            </p:cNvCxnSpPr>
            <p:nvPr>
              <p:custDataLst>
                <p:tags r:id="rId12"/>
              </p:custDataLst>
            </p:nvPr>
          </p:nvCxnSpPr>
          <p:spPr>
            <a:xfrm flipH="1" flipV="1">
              <a:off x="3794" y="8204"/>
              <a:ext cx="529" cy="4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7" name="图片 16" descr="交换机8端口千兆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0"/>
            <a:srcRect l="12309" t="20957" r="9503" b="20096"/>
            <a:stretch>
              <a:fillRect/>
            </a:stretch>
          </p:blipFill>
          <p:spPr>
            <a:xfrm>
              <a:off x="4752" y="7588"/>
              <a:ext cx="1226" cy="616"/>
            </a:xfrm>
            <a:prstGeom prst="rect">
              <a:avLst/>
            </a:prstGeom>
          </p:spPr>
        </p:pic>
        <p:pic>
          <p:nvPicPr>
            <p:cNvPr id="18" name="图片 17" descr="交换机8端口千兆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0"/>
            <a:srcRect l="12309" t="20957" r="9503" b="20096"/>
            <a:stretch>
              <a:fillRect/>
            </a:stretch>
          </p:blipFill>
          <p:spPr>
            <a:xfrm>
              <a:off x="6562" y="8372"/>
              <a:ext cx="1226" cy="616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>
              <p:custDataLst>
                <p:tags r:id="rId15"/>
              </p:custDataLst>
            </p:nvPr>
          </p:nvSpPr>
          <p:spPr>
            <a:xfrm>
              <a:off x="889" y="7642"/>
              <a:ext cx="244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宿舍接入交换机</a:t>
              </a:r>
              <a:r>
                <a:rPr lang="en-US" altLang="zh-CN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1</a:t>
              </a:r>
              <a:endParaRPr lang="en-US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6"/>
              </p:custDataLst>
            </p:nvPr>
          </p:nvSpPr>
          <p:spPr>
            <a:xfrm>
              <a:off x="4323" y="8076"/>
              <a:ext cx="258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宿舍接入交换机</a:t>
              </a:r>
              <a:r>
                <a:rPr lang="en-US" altLang="zh-CN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2</a:t>
              </a:r>
              <a:endParaRPr lang="en-US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7"/>
              </p:custDataLst>
            </p:nvPr>
          </p:nvSpPr>
          <p:spPr>
            <a:xfrm>
              <a:off x="5456" y="8854"/>
              <a:ext cx="241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宿舍接入交换机</a:t>
              </a:r>
              <a:r>
                <a:rPr lang="en-US" altLang="zh-CN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3</a:t>
              </a:r>
              <a:endParaRPr lang="en-US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pic>
          <p:nvPicPr>
            <p:cNvPr id="24" name="图片 23" descr="交换机8端口千兆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0"/>
            <a:srcRect l="12309" t="20957" r="9503" b="20096"/>
            <a:stretch>
              <a:fillRect/>
            </a:stretch>
          </p:blipFill>
          <p:spPr>
            <a:xfrm>
              <a:off x="4750" y="6550"/>
              <a:ext cx="1226" cy="616"/>
            </a:xfrm>
            <a:prstGeom prst="rect">
              <a:avLst/>
            </a:prstGeom>
          </p:spPr>
        </p:pic>
        <p:cxnSp>
          <p:nvCxnSpPr>
            <p:cNvPr id="25" name="直接连接符 24"/>
            <p:cNvCxnSpPr>
              <a:stCxn id="24" idx="2"/>
              <a:endCxn id="14" idx="0"/>
            </p:cNvCxnSpPr>
            <p:nvPr>
              <p:custDataLst>
                <p:tags r:id="rId19"/>
              </p:custDataLst>
            </p:nvPr>
          </p:nvCxnSpPr>
          <p:spPr>
            <a:xfrm flipH="1">
              <a:off x="3794" y="7166"/>
              <a:ext cx="1569" cy="4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>
              <a:stCxn id="24" idx="2"/>
              <a:endCxn id="17" idx="0"/>
            </p:cNvCxnSpPr>
            <p:nvPr>
              <p:custDataLst>
                <p:tags r:id="rId20"/>
              </p:custDataLst>
            </p:nvPr>
          </p:nvCxnSpPr>
          <p:spPr>
            <a:xfrm>
              <a:off x="5363" y="7166"/>
              <a:ext cx="2" cy="4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>
              <a:stCxn id="18" idx="0"/>
              <a:endCxn id="24" idx="2"/>
            </p:cNvCxnSpPr>
            <p:nvPr>
              <p:custDataLst>
                <p:tags r:id="rId21"/>
              </p:custDataLst>
            </p:nvPr>
          </p:nvCxnSpPr>
          <p:spPr>
            <a:xfrm flipH="1" flipV="1">
              <a:off x="5363" y="7166"/>
              <a:ext cx="1812" cy="12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>
              <p:custDataLst>
                <p:tags r:id="rId22"/>
              </p:custDataLst>
            </p:nvPr>
          </p:nvSpPr>
          <p:spPr>
            <a:xfrm>
              <a:off x="2266" y="6550"/>
              <a:ext cx="269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宿舍汇聚交换机</a:t>
              </a:r>
              <a:endPara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395470" y="2607310"/>
            <a:ext cx="5160645" cy="4250690"/>
            <a:chOff x="7542" y="3777"/>
            <a:chExt cx="8127" cy="6694"/>
          </a:xfrm>
        </p:grpSpPr>
        <p:pic>
          <p:nvPicPr>
            <p:cNvPr id="30" name="图片 29" descr="空白的,显示器,分离着色,白色,正面视角,边框,水平画幅,无人,计算机制图,计算机图形学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9431" y="9306"/>
              <a:ext cx="854" cy="641"/>
            </a:xfrm>
            <a:prstGeom prst="rect">
              <a:avLst/>
            </a:prstGeom>
          </p:spPr>
        </p:pic>
        <p:pic>
          <p:nvPicPr>
            <p:cNvPr id="31" name="图片 30" descr="空白的,显示器,分离着色,白色,正面视角,边框,水平画幅,无人,计算机制图,计算机图形学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6" y="9306"/>
              <a:ext cx="854" cy="641"/>
            </a:xfrm>
            <a:prstGeom prst="rect">
              <a:avLst/>
            </a:prstGeom>
          </p:spPr>
        </p:pic>
        <p:sp>
          <p:nvSpPr>
            <p:cNvPr id="32" name="文本框 31"/>
            <p:cNvSpPr txBox="1"/>
            <p:nvPr>
              <p:custDataLst>
                <p:tags r:id="rId25"/>
              </p:custDataLst>
            </p:nvPr>
          </p:nvSpPr>
          <p:spPr>
            <a:xfrm>
              <a:off x="8772" y="10037"/>
              <a:ext cx="161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教学楼终端</a:t>
              </a:r>
              <a:r>
                <a:rPr lang="en-US" altLang="zh-CN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1</a:t>
              </a:r>
              <a:endPara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26"/>
              </p:custDataLst>
            </p:nvPr>
          </p:nvSpPr>
          <p:spPr>
            <a:xfrm>
              <a:off x="10390" y="10037"/>
              <a:ext cx="169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教学楼终端</a:t>
              </a:r>
              <a:r>
                <a:rPr lang="en-US" altLang="zh-CN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2</a:t>
              </a:r>
              <a:endPara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  <p:pic>
          <p:nvPicPr>
            <p:cNvPr id="34" name="图片 33" descr="交换机8端口千兆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10"/>
            <a:srcRect l="12309" t="20957" r="9503" b="20096"/>
            <a:stretch>
              <a:fillRect/>
            </a:stretch>
          </p:blipFill>
          <p:spPr>
            <a:xfrm>
              <a:off x="9851" y="8274"/>
              <a:ext cx="1226" cy="616"/>
            </a:xfrm>
            <a:prstGeom prst="rect">
              <a:avLst/>
            </a:prstGeom>
          </p:spPr>
        </p:pic>
        <p:cxnSp>
          <p:nvCxnSpPr>
            <p:cNvPr id="35" name="直接连接符 34"/>
            <p:cNvCxnSpPr>
              <a:stCxn id="34" idx="2"/>
              <a:endCxn id="30" idx="0"/>
            </p:cNvCxnSpPr>
            <p:nvPr>
              <p:custDataLst>
                <p:tags r:id="rId28"/>
              </p:custDataLst>
            </p:nvPr>
          </p:nvCxnSpPr>
          <p:spPr>
            <a:xfrm flipH="1">
              <a:off x="9858" y="8890"/>
              <a:ext cx="606" cy="4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31" idx="0"/>
              <a:endCxn id="34" idx="2"/>
            </p:cNvCxnSpPr>
            <p:nvPr>
              <p:custDataLst>
                <p:tags r:id="rId29"/>
              </p:custDataLst>
            </p:nvPr>
          </p:nvCxnSpPr>
          <p:spPr>
            <a:xfrm flipH="1" flipV="1">
              <a:off x="10464" y="8890"/>
              <a:ext cx="529" cy="4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" name="图片 36" descr="交换机8端口千兆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0"/>
            <a:srcRect l="12309" t="20957" r="9503" b="20096"/>
            <a:stretch>
              <a:fillRect/>
            </a:stretch>
          </p:blipFill>
          <p:spPr>
            <a:xfrm>
              <a:off x="11422" y="8274"/>
              <a:ext cx="1226" cy="616"/>
            </a:xfrm>
            <a:prstGeom prst="rect">
              <a:avLst/>
            </a:prstGeom>
          </p:spPr>
        </p:pic>
        <p:pic>
          <p:nvPicPr>
            <p:cNvPr id="38" name="图片 37" descr="交换机8端口千兆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10"/>
            <a:srcRect l="12309" t="20957" r="9503" b="20096"/>
            <a:stretch>
              <a:fillRect/>
            </a:stretch>
          </p:blipFill>
          <p:spPr>
            <a:xfrm>
              <a:off x="13493" y="8690"/>
              <a:ext cx="1226" cy="616"/>
            </a:xfrm>
            <a:prstGeom prst="rect">
              <a:avLst/>
            </a:prstGeom>
          </p:spPr>
        </p:pic>
        <p:sp>
          <p:nvSpPr>
            <p:cNvPr id="39" name="文本框 38"/>
            <p:cNvSpPr txBox="1"/>
            <p:nvPr>
              <p:custDataLst>
                <p:tags r:id="rId32"/>
              </p:custDataLst>
            </p:nvPr>
          </p:nvSpPr>
          <p:spPr>
            <a:xfrm>
              <a:off x="7542" y="8594"/>
              <a:ext cx="274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教学楼</a:t>
              </a:r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接入交换机</a:t>
              </a:r>
              <a:r>
                <a:rPr lang="en-US" altLang="zh-CN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1</a:t>
              </a:r>
              <a:endParaRPr lang="en-US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40" name="文本框 39"/>
            <p:cNvSpPr txBox="1"/>
            <p:nvPr>
              <p:custDataLst>
                <p:tags r:id="rId33"/>
              </p:custDataLst>
            </p:nvPr>
          </p:nvSpPr>
          <p:spPr>
            <a:xfrm>
              <a:off x="10885" y="8782"/>
              <a:ext cx="276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教学楼</a:t>
              </a:r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接入交换机</a:t>
              </a:r>
              <a:r>
                <a:rPr lang="en-US" altLang="zh-CN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2</a:t>
              </a:r>
              <a:endParaRPr lang="en-US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34"/>
              </p:custDataLst>
            </p:nvPr>
          </p:nvSpPr>
          <p:spPr>
            <a:xfrm>
              <a:off x="12816" y="9306"/>
              <a:ext cx="285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教学楼</a:t>
              </a:r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接入交换机</a:t>
              </a:r>
              <a:r>
                <a:rPr lang="en-US" altLang="zh-CN" sz="14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3</a:t>
              </a:r>
              <a:endParaRPr lang="en-US" altLang="zh-CN" sz="14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pic>
          <p:nvPicPr>
            <p:cNvPr id="42" name="图片 41" descr="交换机8端口千兆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10"/>
            <a:srcRect l="12309" t="20957" r="9503" b="20096"/>
            <a:stretch>
              <a:fillRect/>
            </a:stretch>
          </p:blipFill>
          <p:spPr>
            <a:xfrm>
              <a:off x="11420" y="7236"/>
              <a:ext cx="1226" cy="616"/>
            </a:xfrm>
            <a:prstGeom prst="rect">
              <a:avLst/>
            </a:prstGeom>
          </p:spPr>
        </p:pic>
        <p:cxnSp>
          <p:nvCxnSpPr>
            <p:cNvPr id="43" name="直接连接符 42"/>
            <p:cNvCxnSpPr>
              <a:stCxn id="42" idx="2"/>
              <a:endCxn id="34" idx="0"/>
            </p:cNvCxnSpPr>
            <p:nvPr>
              <p:custDataLst>
                <p:tags r:id="rId36"/>
              </p:custDataLst>
            </p:nvPr>
          </p:nvCxnSpPr>
          <p:spPr>
            <a:xfrm flipH="1">
              <a:off x="10464" y="7852"/>
              <a:ext cx="1569" cy="4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42" idx="2"/>
              <a:endCxn id="37" idx="0"/>
            </p:cNvCxnSpPr>
            <p:nvPr>
              <p:custDataLst>
                <p:tags r:id="rId37"/>
              </p:custDataLst>
            </p:nvPr>
          </p:nvCxnSpPr>
          <p:spPr>
            <a:xfrm>
              <a:off x="12033" y="7852"/>
              <a:ext cx="2" cy="4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38" idx="0"/>
              <a:endCxn id="42" idx="2"/>
            </p:cNvCxnSpPr>
            <p:nvPr>
              <p:custDataLst>
                <p:tags r:id="rId38"/>
              </p:custDataLst>
            </p:nvPr>
          </p:nvCxnSpPr>
          <p:spPr>
            <a:xfrm flipH="1" flipV="1">
              <a:off x="12033" y="7852"/>
              <a:ext cx="2073" cy="8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>
              <p:custDataLst>
                <p:tags r:id="rId39"/>
              </p:custDataLst>
            </p:nvPr>
          </p:nvSpPr>
          <p:spPr>
            <a:xfrm>
              <a:off x="8772" y="7180"/>
              <a:ext cx="296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教学楼汇聚交换机</a:t>
              </a:r>
              <a:endPara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cxnSp>
          <p:nvCxnSpPr>
            <p:cNvPr id="47" name="直接连接符 46"/>
            <p:cNvCxnSpPr>
              <a:stCxn id="42" idx="0"/>
            </p:cNvCxnSpPr>
            <p:nvPr>
              <p:custDataLst>
                <p:tags r:id="rId40"/>
              </p:custDataLst>
            </p:nvPr>
          </p:nvCxnSpPr>
          <p:spPr>
            <a:xfrm flipH="1" flipV="1">
              <a:off x="8903" y="3777"/>
              <a:ext cx="3130" cy="34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61" name="图片 60" descr="空白的,显示器,分离着色,白色,正面视角,边框,水平画幅,无人,计算机制图,计算机图形学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444990" y="5369560"/>
            <a:ext cx="542290" cy="407035"/>
          </a:xfrm>
          <a:prstGeom prst="rect">
            <a:avLst/>
          </a:prstGeom>
        </p:spPr>
      </p:pic>
      <p:pic>
        <p:nvPicPr>
          <p:cNvPr id="62" name="图片 61" descr="空白的,显示器,分离着色,白色,正面视角,边框,水平画幅,无人,计算机制图,计算机图形学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165715" y="5369560"/>
            <a:ext cx="542290" cy="407035"/>
          </a:xfrm>
          <a:prstGeom prst="rect">
            <a:avLst/>
          </a:prstGeom>
        </p:spPr>
      </p:pic>
      <p:pic>
        <p:nvPicPr>
          <p:cNvPr id="63" name="图片 62" descr="交换机8端口千兆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10"/>
          <a:srcRect l="12309" t="20957" r="9503" b="20096"/>
          <a:stretch>
            <a:fillRect/>
          </a:stretch>
        </p:blipFill>
        <p:spPr>
          <a:xfrm>
            <a:off x="9711690" y="4714240"/>
            <a:ext cx="778510" cy="391160"/>
          </a:xfrm>
          <a:prstGeom prst="rect">
            <a:avLst/>
          </a:prstGeom>
        </p:spPr>
      </p:pic>
      <p:cxnSp>
        <p:nvCxnSpPr>
          <p:cNvPr id="64" name="直接连接符 63"/>
          <p:cNvCxnSpPr>
            <a:stCxn id="63" idx="2"/>
            <a:endCxn id="61" idx="0"/>
          </p:cNvCxnSpPr>
          <p:nvPr>
            <p:custDataLst>
              <p:tags r:id="rId44"/>
            </p:custDataLst>
          </p:nvPr>
        </p:nvCxnSpPr>
        <p:spPr>
          <a:xfrm flipH="1">
            <a:off x="9716135" y="5105400"/>
            <a:ext cx="384810" cy="264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stCxn id="62" idx="0"/>
            <a:endCxn id="63" idx="2"/>
          </p:cNvCxnSpPr>
          <p:nvPr>
            <p:custDataLst>
              <p:tags r:id="rId45"/>
            </p:custDataLst>
          </p:nvPr>
        </p:nvCxnSpPr>
        <p:spPr>
          <a:xfrm flipH="1" flipV="1">
            <a:off x="10100945" y="5105400"/>
            <a:ext cx="335915" cy="264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8" name="图片 67" descr="空白的,显示器,分离着色,白色,正面视角,边框,水平画幅,无人,计算机制图,计算机图形学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701020" y="4485640"/>
            <a:ext cx="542290" cy="407035"/>
          </a:xfrm>
          <a:prstGeom prst="rect">
            <a:avLst/>
          </a:prstGeom>
        </p:spPr>
      </p:pic>
      <p:pic>
        <p:nvPicPr>
          <p:cNvPr id="69" name="图片 68" descr="空白的,显示器,分离着色,白色,正面视角,边框,水平画幅,无人,计算机制图,计算机图形学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386820" y="4803775"/>
            <a:ext cx="542290" cy="407035"/>
          </a:xfrm>
          <a:prstGeom prst="rect">
            <a:avLst/>
          </a:prstGeom>
        </p:spPr>
      </p:pic>
      <p:pic>
        <p:nvPicPr>
          <p:cNvPr id="70" name="图片 69" descr="交换机8端口千兆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10"/>
          <a:srcRect l="12309" t="20957" r="9503" b="20096"/>
          <a:stretch>
            <a:fillRect/>
          </a:stretch>
        </p:blipFill>
        <p:spPr>
          <a:xfrm>
            <a:off x="10967720" y="3830320"/>
            <a:ext cx="778510" cy="391160"/>
          </a:xfrm>
          <a:prstGeom prst="rect">
            <a:avLst/>
          </a:prstGeom>
        </p:spPr>
      </p:pic>
      <p:cxnSp>
        <p:nvCxnSpPr>
          <p:cNvPr id="71" name="直接连接符 70"/>
          <p:cNvCxnSpPr>
            <a:stCxn id="70" idx="2"/>
            <a:endCxn id="68" idx="0"/>
          </p:cNvCxnSpPr>
          <p:nvPr>
            <p:custDataLst>
              <p:tags r:id="rId49"/>
            </p:custDataLst>
          </p:nvPr>
        </p:nvCxnSpPr>
        <p:spPr>
          <a:xfrm flipH="1">
            <a:off x="10972165" y="4221480"/>
            <a:ext cx="384810" cy="264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69" idx="0"/>
            <a:endCxn id="70" idx="2"/>
          </p:cNvCxnSpPr>
          <p:nvPr>
            <p:custDataLst>
              <p:tags r:id="rId50"/>
            </p:custDataLst>
          </p:nvPr>
        </p:nvCxnSpPr>
        <p:spPr>
          <a:xfrm flipH="1" flipV="1">
            <a:off x="11356975" y="4221480"/>
            <a:ext cx="300990" cy="582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>
            <p:custDataLst>
              <p:tags r:id="rId51"/>
            </p:custDataLst>
          </p:nvPr>
        </p:nvSpPr>
        <p:spPr>
          <a:xfrm>
            <a:off x="9100820" y="5776595"/>
            <a:ext cx="10648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人事部终端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</a:t>
            </a:r>
            <a:endParaRPr lang="en-US" altLang="zh-CN" sz="12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6" name="文本框 75"/>
          <p:cNvSpPr txBox="1"/>
          <p:nvPr>
            <p:custDataLst>
              <p:tags r:id="rId52"/>
            </p:custDataLst>
          </p:nvPr>
        </p:nvSpPr>
        <p:spPr>
          <a:xfrm>
            <a:off x="9987280" y="5785485"/>
            <a:ext cx="10648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人事部终端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</a:t>
            </a:r>
            <a:endParaRPr lang="en-US" altLang="zh-CN" sz="12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7" name="文本框 76"/>
          <p:cNvSpPr txBox="1"/>
          <p:nvPr>
            <p:custDataLst>
              <p:tags r:id="rId53"/>
            </p:custDataLst>
          </p:nvPr>
        </p:nvSpPr>
        <p:spPr>
          <a:xfrm>
            <a:off x="10377805" y="4928235"/>
            <a:ext cx="10648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财务部终端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</a:t>
            </a:r>
            <a:endParaRPr lang="en-US" altLang="zh-CN" sz="12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8" name="文本框 77"/>
          <p:cNvSpPr txBox="1"/>
          <p:nvPr>
            <p:custDataLst>
              <p:tags r:id="rId54"/>
            </p:custDataLst>
          </p:nvPr>
        </p:nvSpPr>
        <p:spPr>
          <a:xfrm>
            <a:off x="11127105" y="5187315"/>
            <a:ext cx="10648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财务部终端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</a:t>
            </a:r>
            <a:endParaRPr lang="en-US" altLang="zh-CN" sz="12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37210" y="2570480"/>
            <a:ext cx="2006600" cy="1669415"/>
            <a:chOff x="863" y="4869"/>
            <a:chExt cx="3160" cy="2629"/>
          </a:xfrm>
        </p:grpSpPr>
        <p:pic>
          <p:nvPicPr>
            <p:cNvPr id="51" name="图片 50" descr="空白的,显示器,分离着色,白色,正面视角,边框,水平画幅,无人,计算机制图,计算机图形学"/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507" y="6322"/>
              <a:ext cx="854" cy="641"/>
            </a:xfrm>
            <a:prstGeom prst="rect">
              <a:avLst/>
            </a:prstGeom>
          </p:spPr>
        </p:pic>
        <p:pic>
          <p:nvPicPr>
            <p:cNvPr id="52" name="图片 51" descr="空白的,显示器,分离着色,白色,正面视角,边框,水平画幅,无人,计算机制图,计算机图形学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642" y="6322"/>
              <a:ext cx="854" cy="641"/>
            </a:xfrm>
            <a:prstGeom prst="rect">
              <a:avLst/>
            </a:prstGeom>
          </p:spPr>
        </p:pic>
        <p:pic>
          <p:nvPicPr>
            <p:cNvPr id="53" name="图片 52" descr="交换机8端口千兆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10"/>
            <a:srcRect l="12309" t="20957" r="9503" b="20096"/>
            <a:stretch>
              <a:fillRect/>
            </a:stretch>
          </p:blipFill>
          <p:spPr>
            <a:xfrm>
              <a:off x="1927" y="5290"/>
              <a:ext cx="1226" cy="616"/>
            </a:xfrm>
            <a:prstGeom prst="rect">
              <a:avLst/>
            </a:prstGeom>
          </p:spPr>
        </p:pic>
        <p:cxnSp>
          <p:nvCxnSpPr>
            <p:cNvPr id="54" name="直接连接符 53"/>
            <p:cNvCxnSpPr>
              <a:stCxn id="53" idx="2"/>
              <a:endCxn id="51" idx="0"/>
            </p:cNvCxnSpPr>
            <p:nvPr>
              <p:custDataLst>
                <p:tags r:id="rId58"/>
              </p:custDataLst>
            </p:nvPr>
          </p:nvCxnSpPr>
          <p:spPr>
            <a:xfrm flipH="1">
              <a:off x="1934" y="5906"/>
              <a:ext cx="606" cy="4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>
              <a:stCxn id="52" idx="0"/>
              <a:endCxn id="53" idx="2"/>
            </p:cNvCxnSpPr>
            <p:nvPr>
              <p:custDataLst>
                <p:tags r:id="rId59"/>
              </p:custDataLst>
            </p:nvPr>
          </p:nvCxnSpPr>
          <p:spPr>
            <a:xfrm flipH="1" flipV="1">
              <a:off x="2540" y="5906"/>
              <a:ext cx="529" cy="4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6" name="文本框 65"/>
            <p:cNvSpPr txBox="1"/>
            <p:nvPr>
              <p:custDataLst>
                <p:tags r:id="rId60"/>
              </p:custDataLst>
            </p:nvPr>
          </p:nvSpPr>
          <p:spPr>
            <a:xfrm>
              <a:off x="863" y="7064"/>
              <a:ext cx="167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图书馆终端</a:t>
              </a:r>
              <a:r>
                <a:rPr lang="en-US" altLang="zh-CN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1</a:t>
              </a:r>
              <a:endPara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61"/>
              </p:custDataLst>
            </p:nvPr>
          </p:nvSpPr>
          <p:spPr>
            <a:xfrm>
              <a:off x="2347" y="7064"/>
              <a:ext cx="167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图书馆终端</a:t>
              </a:r>
              <a:r>
                <a:rPr lang="en-US" altLang="zh-CN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2</a:t>
              </a:r>
              <a:endPara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62"/>
              </p:custDataLst>
            </p:nvPr>
          </p:nvSpPr>
          <p:spPr>
            <a:xfrm>
              <a:off x="1260" y="4869"/>
              <a:ext cx="225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图书馆交换机</a:t>
              </a:r>
              <a:endPara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29615" y="443865"/>
            <a:ext cx="2034540" cy="1675130"/>
            <a:chOff x="1233" y="2107"/>
            <a:chExt cx="3204" cy="2638"/>
          </a:xfrm>
        </p:grpSpPr>
        <p:pic>
          <p:nvPicPr>
            <p:cNvPr id="56" name="图片 55" descr="空白的,显示器,分离着色,白色,正面视角,边框,水平画幅,无人,计算机制图,计算机图形学"/>
            <p:cNvPicPr>
              <a:picLocks noChangeAspect="1"/>
            </p:cNvPicPr>
            <p:nvPr>
              <p:custDataLst>
                <p:tags r:id="rId63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675" y="3670"/>
              <a:ext cx="854" cy="641"/>
            </a:xfrm>
            <a:prstGeom prst="rect">
              <a:avLst/>
            </a:prstGeom>
          </p:spPr>
        </p:pic>
        <p:pic>
          <p:nvPicPr>
            <p:cNvPr id="57" name="图片 56" descr="空白的,显示器,分离着色,白色,正面视角,边框,水平画幅,无人,计算机制图,计算机图形学"/>
            <p:cNvPicPr>
              <a:picLocks noChangeAspect="1"/>
            </p:cNvPicPr>
            <p:nvPr>
              <p:custDataLst>
                <p:tags r:id="rId6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2810" y="3670"/>
              <a:ext cx="854" cy="641"/>
            </a:xfrm>
            <a:prstGeom prst="rect">
              <a:avLst/>
            </a:prstGeom>
          </p:spPr>
        </p:pic>
        <p:pic>
          <p:nvPicPr>
            <p:cNvPr id="58" name="图片 57" descr="交换机8端口千兆"/>
            <p:cNvPicPr>
              <a:picLocks noChangeAspect="1"/>
            </p:cNvPicPr>
            <p:nvPr>
              <p:custDataLst>
                <p:tags r:id="rId65"/>
              </p:custDataLst>
            </p:nvPr>
          </p:nvPicPr>
          <p:blipFill>
            <a:blip r:embed="rId10"/>
            <a:srcRect l="12309" t="20957" r="9503" b="20096"/>
            <a:stretch>
              <a:fillRect/>
            </a:stretch>
          </p:blipFill>
          <p:spPr>
            <a:xfrm>
              <a:off x="2095" y="2638"/>
              <a:ext cx="1226" cy="616"/>
            </a:xfrm>
            <a:prstGeom prst="rect">
              <a:avLst/>
            </a:prstGeom>
          </p:spPr>
        </p:pic>
        <p:cxnSp>
          <p:nvCxnSpPr>
            <p:cNvPr id="59" name="直接连接符 58"/>
            <p:cNvCxnSpPr>
              <a:stCxn id="58" idx="2"/>
              <a:endCxn id="56" idx="0"/>
            </p:cNvCxnSpPr>
            <p:nvPr>
              <p:custDataLst>
                <p:tags r:id="rId66"/>
              </p:custDataLst>
            </p:nvPr>
          </p:nvCxnSpPr>
          <p:spPr>
            <a:xfrm flipH="1">
              <a:off x="2102" y="3254"/>
              <a:ext cx="606" cy="4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>
              <a:stCxn id="57" idx="0"/>
              <a:endCxn id="58" idx="2"/>
            </p:cNvCxnSpPr>
            <p:nvPr>
              <p:custDataLst>
                <p:tags r:id="rId67"/>
              </p:custDataLst>
            </p:nvPr>
          </p:nvCxnSpPr>
          <p:spPr>
            <a:xfrm flipH="1" flipV="1">
              <a:off x="2708" y="3254"/>
              <a:ext cx="529" cy="4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3" name="文本框 72"/>
            <p:cNvSpPr txBox="1"/>
            <p:nvPr>
              <p:custDataLst>
                <p:tags r:id="rId68"/>
              </p:custDataLst>
            </p:nvPr>
          </p:nvSpPr>
          <p:spPr>
            <a:xfrm>
              <a:off x="1233" y="4311"/>
              <a:ext cx="167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办公楼终端</a:t>
              </a:r>
              <a:r>
                <a:rPr lang="en-US" altLang="zh-CN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1</a:t>
              </a:r>
              <a:endPara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74" name="文本框 73"/>
            <p:cNvSpPr txBox="1"/>
            <p:nvPr>
              <p:custDataLst>
                <p:tags r:id="rId69"/>
              </p:custDataLst>
            </p:nvPr>
          </p:nvSpPr>
          <p:spPr>
            <a:xfrm>
              <a:off x="2761" y="4311"/>
              <a:ext cx="167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办公楼终端</a:t>
              </a:r>
              <a:r>
                <a:rPr lang="en-US" altLang="zh-CN" sz="12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2</a:t>
              </a:r>
              <a:endParaRPr lang="en-US" altLang="zh-CN" sz="12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80" name="文本框 79"/>
            <p:cNvSpPr txBox="1"/>
            <p:nvPr>
              <p:custDataLst>
                <p:tags r:id="rId70"/>
              </p:custDataLst>
            </p:nvPr>
          </p:nvSpPr>
          <p:spPr>
            <a:xfrm>
              <a:off x="1422" y="2107"/>
              <a:ext cx="247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办公楼交换机</a:t>
              </a:r>
              <a:endPara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</p:grpSp>
      <p:sp>
        <p:nvSpPr>
          <p:cNvPr id="81" name="文本框 80"/>
          <p:cNvSpPr txBox="1"/>
          <p:nvPr>
            <p:custDataLst>
              <p:tags r:id="rId71"/>
            </p:custDataLst>
          </p:nvPr>
        </p:nvSpPr>
        <p:spPr>
          <a:xfrm>
            <a:off x="9401175" y="4377055"/>
            <a:ext cx="14839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人事部交换机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72"/>
            </p:custDataLst>
          </p:nvPr>
        </p:nvSpPr>
        <p:spPr>
          <a:xfrm>
            <a:off x="10490200" y="3554730"/>
            <a:ext cx="1510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财务部交换机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83" name="直接连接符 82"/>
          <p:cNvCxnSpPr>
            <a:endCxn id="53" idx="3"/>
          </p:cNvCxnSpPr>
          <p:nvPr>
            <p:custDataLst>
              <p:tags r:id="rId73"/>
            </p:custDataLst>
          </p:nvPr>
        </p:nvCxnSpPr>
        <p:spPr>
          <a:xfrm flipH="1">
            <a:off x="1991360" y="2543175"/>
            <a:ext cx="2783840" cy="490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endCxn id="58" idx="3"/>
          </p:cNvCxnSpPr>
          <p:nvPr>
            <p:custDataLst>
              <p:tags r:id="rId74"/>
            </p:custDataLst>
          </p:nvPr>
        </p:nvCxnSpPr>
        <p:spPr>
          <a:xfrm flipH="1" flipV="1">
            <a:off x="2055495" y="976630"/>
            <a:ext cx="2771140" cy="1435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连接符 84"/>
          <p:cNvCxnSpPr>
            <a:stCxn id="63" idx="1"/>
          </p:cNvCxnSpPr>
          <p:nvPr>
            <p:custDataLst>
              <p:tags r:id="rId75"/>
            </p:custDataLst>
          </p:nvPr>
        </p:nvCxnSpPr>
        <p:spPr>
          <a:xfrm flipH="1" flipV="1">
            <a:off x="5644515" y="2621915"/>
            <a:ext cx="4067175" cy="2287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连接符 85"/>
          <p:cNvCxnSpPr>
            <a:stCxn id="70" idx="1"/>
          </p:cNvCxnSpPr>
          <p:nvPr>
            <p:custDataLst>
              <p:tags r:id="rId76"/>
            </p:custDataLst>
          </p:nvPr>
        </p:nvCxnSpPr>
        <p:spPr>
          <a:xfrm flipH="1" flipV="1">
            <a:off x="5847715" y="2615565"/>
            <a:ext cx="5120005" cy="1410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>
            <p:custDataLst>
              <p:tags r:id="rId77"/>
            </p:custDataLst>
          </p:nvPr>
        </p:nvSpPr>
        <p:spPr>
          <a:xfrm>
            <a:off x="4732655" y="1172210"/>
            <a:ext cx="1471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核心路由器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88" name="直接连接符 87"/>
          <p:cNvCxnSpPr>
            <a:stCxn id="89" idx="1"/>
          </p:cNvCxnSpPr>
          <p:nvPr>
            <p:custDataLst>
              <p:tags r:id="rId78"/>
            </p:custDataLst>
          </p:nvPr>
        </p:nvCxnSpPr>
        <p:spPr>
          <a:xfrm flipH="1">
            <a:off x="5846445" y="1199515"/>
            <a:ext cx="1549400" cy="12484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9" name="图片 88" descr="交换机8端口千兆"/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10"/>
          <a:srcRect l="12309" t="20957" r="9503" b="20096"/>
          <a:stretch>
            <a:fillRect/>
          </a:stretch>
        </p:blipFill>
        <p:spPr>
          <a:xfrm>
            <a:off x="7395845" y="1003935"/>
            <a:ext cx="778510" cy="391160"/>
          </a:xfrm>
          <a:prstGeom prst="rect">
            <a:avLst/>
          </a:prstGeom>
        </p:spPr>
      </p:pic>
      <p:cxnSp>
        <p:nvCxnSpPr>
          <p:cNvPr id="90" name="直接连接符 89"/>
          <p:cNvCxnSpPr>
            <a:stCxn id="91" idx="1"/>
          </p:cNvCxnSpPr>
          <p:nvPr>
            <p:custDataLst>
              <p:tags r:id="rId80"/>
            </p:custDataLst>
          </p:nvPr>
        </p:nvCxnSpPr>
        <p:spPr>
          <a:xfrm flipH="1" flipV="1">
            <a:off x="5868035" y="2447925"/>
            <a:ext cx="1527810" cy="122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1" name="图片 90" descr="交换机8端口千兆"/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10"/>
          <a:srcRect l="12309" t="20957" r="9503" b="20096"/>
          <a:stretch>
            <a:fillRect/>
          </a:stretch>
        </p:blipFill>
        <p:spPr>
          <a:xfrm>
            <a:off x="7395845" y="2374900"/>
            <a:ext cx="778510" cy="391160"/>
          </a:xfrm>
          <a:prstGeom prst="rect">
            <a:avLst/>
          </a:prstGeom>
        </p:spPr>
      </p:pic>
      <p:sp>
        <p:nvSpPr>
          <p:cNvPr id="92" name="文本框 91"/>
          <p:cNvSpPr txBox="1"/>
          <p:nvPr>
            <p:custDataLst>
              <p:tags r:id="rId82"/>
            </p:custDataLst>
          </p:nvPr>
        </p:nvSpPr>
        <p:spPr>
          <a:xfrm>
            <a:off x="7212965" y="728345"/>
            <a:ext cx="15894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服务器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交换机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93" name="文本框 92"/>
          <p:cNvSpPr txBox="1"/>
          <p:nvPr>
            <p:custDataLst>
              <p:tags r:id="rId83"/>
            </p:custDataLst>
          </p:nvPr>
        </p:nvSpPr>
        <p:spPr>
          <a:xfrm>
            <a:off x="7212965" y="2099310"/>
            <a:ext cx="15894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服务器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交换机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图片 2" descr="服务器象形实体图标。固体图标，可以应用在任何地方，简单，像素完美和现代风格"/>
          <p:cNvPicPr>
            <a:picLocks noChangeAspect="1"/>
          </p:cNvPicPr>
          <p:nvPr>
            <p:custDataLst>
              <p:tags r:id="rId84"/>
            </p:custDataLst>
          </p:nvPr>
        </p:nvPicPr>
        <p:blipFill>
          <a:blip r:embed="rId85"/>
          <a:srcRect l="14093" t="19713" r="9694" b="16194"/>
          <a:stretch>
            <a:fillRect/>
          </a:stretch>
        </p:blipFill>
        <p:spPr>
          <a:xfrm>
            <a:off x="9561830" y="808990"/>
            <a:ext cx="928370" cy="781050"/>
          </a:xfrm>
          <a:prstGeom prst="rect">
            <a:avLst/>
          </a:prstGeom>
        </p:spPr>
      </p:pic>
      <p:pic>
        <p:nvPicPr>
          <p:cNvPr id="4" name="图片 3" descr="服务器象形实体图标。固体图标，可以应用在任何地方，简单，像素完美和现代风格"/>
          <p:cNvPicPr>
            <a:picLocks noChangeAspect="1"/>
          </p:cNvPicPr>
          <p:nvPr>
            <p:custDataLst>
              <p:tags r:id="rId86"/>
            </p:custDataLst>
          </p:nvPr>
        </p:nvPicPr>
        <p:blipFill>
          <a:blip r:embed="rId85"/>
          <a:srcRect l="14093" t="19713" r="9694" b="16194"/>
          <a:stretch>
            <a:fillRect/>
          </a:stretch>
        </p:blipFill>
        <p:spPr>
          <a:xfrm>
            <a:off x="9556750" y="2233930"/>
            <a:ext cx="928370" cy="781050"/>
          </a:xfrm>
          <a:prstGeom prst="rect">
            <a:avLst/>
          </a:prstGeom>
        </p:spPr>
      </p:pic>
      <p:cxnSp>
        <p:nvCxnSpPr>
          <p:cNvPr id="7" name="直接连接符 6"/>
          <p:cNvCxnSpPr>
            <a:stCxn id="3" idx="1"/>
            <a:endCxn id="89" idx="3"/>
          </p:cNvCxnSpPr>
          <p:nvPr>
            <p:custDataLst>
              <p:tags r:id="rId87"/>
            </p:custDataLst>
          </p:nvPr>
        </p:nvCxnSpPr>
        <p:spPr>
          <a:xfrm flipH="1">
            <a:off x="8174355" y="1199515"/>
            <a:ext cx="1387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endCxn id="91" idx="3"/>
          </p:cNvCxnSpPr>
          <p:nvPr>
            <p:custDataLst>
              <p:tags r:id="rId88"/>
            </p:custDataLst>
          </p:nvPr>
        </p:nvCxnSpPr>
        <p:spPr>
          <a:xfrm flipH="1" flipV="1">
            <a:off x="8174355" y="2570480"/>
            <a:ext cx="1387475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89"/>
            </p:custDataLst>
          </p:nvPr>
        </p:nvSpPr>
        <p:spPr>
          <a:xfrm>
            <a:off x="9561830" y="533400"/>
            <a:ext cx="10407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服务器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</a:t>
            </a:r>
            <a:endParaRPr lang="en-US" altLang="zh-CN" sz="16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90"/>
            </p:custDataLst>
          </p:nvPr>
        </p:nvSpPr>
        <p:spPr>
          <a:xfrm>
            <a:off x="9561830" y="1950720"/>
            <a:ext cx="9753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服务器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</a:t>
            </a:r>
            <a:endParaRPr lang="en-US" altLang="zh-CN" sz="16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635" y="4609465"/>
            <a:ext cx="18300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教学楼汇聚交换机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3565525" y="1275080"/>
            <a:ext cx="3435985" cy="4307840"/>
            <a:chOff x="5197" y="1874"/>
            <a:chExt cx="5411" cy="6784"/>
          </a:xfrm>
        </p:grpSpPr>
        <p:sp>
          <p:nvSpPr>
            <p:cNvPr id="55" name="矩形 54"/>
            <p:cNvSpPr/>
            <p:nvPr/>
          </p:nvSpPr>
          <p:spPr>
            <a:xfrm>
              <a:off x="5197" y="2823"/>
              <a:ext cx="5411" cy="583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7993" y="1874"/>
              <a:ext cx="2470" cy="85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核心路由器</a:t>
              </a:r>
              <a:endPara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945890" y="1852295"/>
            <a:ext cx="3091180" cy="3124835"/>
            <a:chOff x="7707" y="2150"/>
            <a:chExt cx="4868" cy="4921"/>
          </a:xfrm>
        </p:grpSpPr>
        <p:pic>
          <p:nvPicPr>
            <p:cNvPr id="17" name="图片 16" descr="服务器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73" y="4191"/>
              <a:ext cx="1713" cy="1713"/>
            </a:xfrm>
            <a:prstGeom prst="rect">
              <a:avLst/>
            </a:prstGeom>
          </p:spPr>
        </p:pic>
        <p:pic>
          <p:nvPicPr>
            <p:cNvPr id="18" name="图片 17" descr="服务器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69" y="4191"/>
              <a:ext cx="1713" cy="1713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7908" y="3757"/>
              <a:ext cx="1962" cy="63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服务器</a:t>
              </a:r>
              <a:r>
                <a:rPr lang="en-US" altLang="zh-CN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1</a:t>
              </a:r>
              <a:endPara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793" y="3790"/>
              <a:ext cx="1783" cy="63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服务器</a:t>
              </a:r>
              <a:r>
                <a:rPr lang="en-US" altLang="zh-CN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2</a:t>
              </a:r>
              <a:endPara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33" name="环形箭头 32"/>
            <p:cNvSpPr/>
            <p:nvPr/>
          </p:nvSpPr>
          <p:spPr>
            <a:xfrm>
              <a:off x="8958" y="3347"/>
              <a:ext cx="2130" cy="2309"/>
            </a:xfrm>
            <a:prstGeom prst="circularArrow">
              <a:avLst>
                <a:gd name="adj1" fmla="val 5304"/>
                <a:gd name="adj2" fmla="val 1142319"/>
                <a:gd name="adj3" fmla="val 20529248"/>
                <a:gd name="adj4" fmla="val 10800000"/>
                <a:gd name="adj5" fmla="val 12500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下箭头 36"/>
            <p:cNvSpPr/>
            <p:nvPr/>
          </p:nvSpPr>
          <p:spPr>
            <a:xfrm>
              <a:off x="8307" y="2580"/>
              <a:ext cx="358" cy="1177"/>
            </a:xfrm>
            <a:prstGeom prst="down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环形箭头 37"/>
            <p:cNvSpPr/>
            <p:nvPr/>
          </p:nvSpPr>
          <p:spPr>
            <a:xfrm rot="10800000">
              <a:off x="8840" y="4561"/>
              <a:ext cx="2366" cy="2510"/>
            </a:xfrm>
            <a:prstGeom prst="circularArrow">
              <a:avLst>
                <a:gd name="adj1" fmla="val 5304"/>
                <a:gd name="adj2" fmla="val 1142319"/>
                <a:gd name="adj3" fmla="val 20529248"/>
                <a:gd name="adj4" fmla="val 10800000"/>
                <a:gd name="adj5" fmla="val 12500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7"/>
              </p:custDataLst>
            </p:nvPr>
          </p:nvSpPr>
          <p:spPr>
            <a:xfrm>
              <a:off x="7707" y="2150"/>
              <a:ext cx="1779" cy="51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当前</a:t>
              </a:r>
              <a:r>
                <a: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指针</a:t>
              </a:r>
              <a:endPara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</p:txBody>
        </p:sp>
      </p:grpSp>
      <p:pic>
        <p:nvPicPr>
          <p:cNvPr id="89" name="图片 88" descr="交换机8端口千兆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12309" t="20957" r="9503" b="20096"/>
          <a:stretch>
            <a:fillRect/>
          </a:stretch>
        </p:blipFill>
        <p:spPr>
          <a:xfrm>
            <a:off x="9290050" y="2676525"/>
            <a:ext cx="778510" cy="391160"/>
          </a:xfrm>
          <a:prstGeom prst="rect">
            <a:avLst/>
          </a:prstGeom>
        </p:spPr>
      </p:pic>
      <p:pic>
        <p:nvPicPr>
          <p:cNvPr id="91" name="图片 90" descr="交换机8端口千兆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/>
          <a:srcRect l="12309" t="20957" r="9503" b="20096"/>
          <a:stretch>
            <a:fillRect/>
          </a:stretch>
        </p:blipFill>
        <p:spPr>
          <a:xfrm>
            <a:off x="9290050" y="4047490"/>
            <a:ext cx="778510" cy="391160"/>
          </a:xfrm>
          <a:prstGeom prst="rect">
            <a:avLst/>
          </a:prstGeom>
        </p:spPr>
      </p:pic>
      <p:sp>
        <p:nvSpPr>
          <p:cNvPr id="92" name="文本框 91"/>
          <p:cNvSpPr txBox="1"/>
          <p:nvPr>
            <p:custDataLst>
              <p:tags r:id="rId11"/>
            </p:custDataLst>
          </p:nvPr>
        </p:nvSpPr>
        <p:spPr>
          <a:xfrm>
            <a:off x="9107170" y="2400935"/>
            <a:ext cx="15894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服务器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交换机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93" name="文本框 92"/>
          <p:cNvSpPr txBox="1"/>
          <p:nvPr>
            <p:custDataLst>
              <p:tags r:id="rId12"/>
            </p:custDataLst>
          </p:nvPr>
        </p:nvSpPr>
        <p:spPr>
          <a:xfrm>
            <a:off x="9107170" y="3771900"/>
            <a:ext cx="15894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服务器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交换机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42" name="图片 41" descr="服务器象形实体图标。固体图标，可以应用在任何地方，简单，像素完美和现代风格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14093" t="19713" r="9694" b="16194"/>
          <a:stretch>
            <a:fillRect/>
          </a:stretch>
        </p:blipFill>
        <p:spPr>
          <a:xfrm>
            <a:off x="10965815" y="2481580"/>
            <a:ext cx="928370" cy="781050"/>
          </a:xfrm>
          <a:prstGeom prst="rect">
            <a:avLst/>
          </a:prstGeom>
        </p:spPr>
      </p:pic>
      <p:pic>
        <p:nvPicPr>
          <p:cNvPr id="43" name="图片 42" descr="服务器象形实体图标。固体图标，可以应用在任何地方，简单，像素完美和现代风格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rcRect l="14093" t="19713" r="9694" b="16194"/>
          <a:stretch>
            <a:fillRect/>
          </a:stretch>
        </p:blipFill>
        <p:spPr>
          <a:xfrm>
            <a:off x="10965815" y="3866515"/>
            <a:ext cx="928370" cy="781050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16"/>
            </p:custDataLst>
          </p:nvPr>
        </p:nvSpPr>
        <p:spPr>
          <a:xfrm>
            <a:off x="10965815" y="2186940"/>
            <a:ext cx="10407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服务器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</a:t>
            </a:r>
            <a:endParaRPr lang="en-US" altLang="zh-CN" sz="16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7" name="文本框 46"/>
          <p:cNvSpPr txBox="1"/>
          <p:nvPr>
            <p:custDataLst>
              <p:tags r:id="rId17"/>
            </p:custDataLst>
          </p:nvPr>
        </p:nvSpPr>
        <p:spPr>
          <a:xfrm>
            <a:off x="10951210" y="3556000"/>
            <a:ext cx="9753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服务器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</a:t>
            </a:r>
            <a:endParaRPr lang="en-US" altLang="zh-CN" sz="16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52" name="直接连接符 51"/>
          <p:cNvCxnSpPr/>
          <p:nvPr>
            <p:custDataLst>
              <p:tags r:id="rId18"/>
            </p:custDataLst>
          </p:nvPr>
        </p:nvCxnSpPr>
        <p:spPr>
          <a:xfrm flipH="1" flipV="1">
            <a:off x="10068560" y="2872105"/>
            <a:ext cx="10477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>
            <p:custDataLst>
              <p:tags r:id="rId19"/>
            </p:custDataLst>
          </p:nvPr>
        </p:nvCxnSpPr>
        <p:spPr>
          <a:xfrm flipH="1" flipV="1">
            <a:off x="10068560" y="4185920"/>
            <a:ext cx="1047750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3075940" y="5781675"/>
            <a:ext cx="453199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1" i="0">
                <a:solidFill>
                  <a:srgbClr val="3B3B3B"/>
                </a:solidFill>
                <a:latin typeface="Times New Roman" panose="02020603050405020304" charset="0"/>
                <a:ea typeface="monospace"/>
                <a:cs typeface="Times New Roman" panose="02020603050405020304" charset="0"/>
              </a:rPr>
              <a:t>get_server(): target ← servers[_rr_index++ mod 2]</a:t>
            </a:r>
            <a:endParaRPr lang="en-US" altLang="zh-CN" sz="1600" b="1" i="0">
              <a:solidFill>
                <a:srgbClr val="3B3B3B"/>
              </a:solidFill>
              <a:latin typeface="Times New Roman" panose="02020603050405020304" charset="0"/>
              <a:ea typeface="monospace"/>
              <a:cs typeface="Times New Roman" panose="02020603050405020304" charset="0"/>
            </a:endParaRPr>
          </a:p>
        </p:txBody>
      </p:sp>
      <p:sp>
        <p:nvSpPr>
          <p:cNvPr id="57" name="右箭头 56"/>
          <p:cNvSpPr/>
          <p:nvPr/>
        </p:nvSpPr>
        <p:spPr>
          <a:xfrm>
            <a:off x="2772410" y="3067685"/>
            <a:ext cx="795020" cy="29972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2" name="组合 61"/>
          <p:cNvGrpSpPr/>
          <p:nvPr/>
        </p:nvGrpSpPr>
        <p:grpSpPr>
          <a:xfrm>
            <a:off x="52070" y="1146810"/>
            <a:ext cx="2627630" cy="4463415"/>
            <a:chOff x="82" y="2246"/>
            <a:chExt cx="4138" cy="7029"/>
          </a:xfrm>
        </p:grpSpPr>
        <p:sp>
          <p:nvSpPr>
            <p:cNvPr id="56" name="矩形 55"/>
            <p:cNvSpPr/>
            <p:nvPr/>
          </p:nvSpPr>
          <p:spPr>
            <a:xfrm>
              <a:off x="82" y="3085"/>
              <a:ext cx="4138" cy="619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179" y="2246"/>
              <a:ext cx="3893" cy="6624"/>
              <a:chOff x="216" y="1218"/>
              <a:chExt cx="3893" cy="6624"/>
            </a:xfrm>
          </p:grpSpPr>
          <p:pic>
            <p:nvPicPr>
              <p:cNvPr id="58" name="图片 57" descr="交换机8端口千兆"/>
              <p:cNvPicPr>
                <a:picLocks noChangeAspect="1"/>
              </p:cNvPicPr>
              <p:nvPr>
                <p:custDataLst>
                  <p:tags r:id="rId20"/>
                </p:custDataLst>
              </p:nvPr>
            </p:nvPicPr>
            <p:blipFill>
              <a:blip r:embed="rId9"/>
              <a:srcRect l="12309" t="20957" r="9503" b="20096"/>
              <a:stretch>
                <a:fillRect/>
              </a:stretch>
            </p:blipFill>
            <p:spPr>
              <a:xfrm>
                <a:off x="2883" y="2292"/>
                <a:ext cx="1226" cy="616"/>
              </a:xfrm>
              <a:prstGeom prst="rect">
                <a:avLst/>
              </a:prstGeom>
            </p:spPr>
          </p:pic>
          <p:pic>
            <p:nvPicPr>
              <p:cNvPr id="4" name="图片 3" descr="交换机8端口千兆"/>
              <p:cNvPicPr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9"/>
              <a:srcRect l="12309" t="20957" r="9503" b="20096"/>
              <a:stretch>
                <a:fillRect/>
              </a:stretch>
            </p:blipFill>
            <p:spPr>
              <a:xfrm>
                <a:off x="2883" y="3347"/>
                <a:ext cx="1226" cy="616"/>
              </a:xfrm>
              <a:prstGeom prst="rect">
                <a:avLst/>
              </a:prstGeom>
            </p:spPr>
          </p:pic>
          <p:pic>
            <p:nvPicPr>
              <p:cNvPr id="5" name="图片 4" descr="交换机8端口千兆"/>
              <p:cNvPicPr>
                <a:picLocks noChangeAspect="1"/>
              </p:cNvPicPr>
              <p:nvPr>
                <p:custDataLst>
                  <p:tags r:id="rId22"/>
                </p:custDataLst>
              </p:nvPr>
            </p:nvPicPr>
            <p:blipFill>
              <a:blip r:embed="rId9"/>
              <a:srcRect l="12309" t="20957" r="9503" b="20096"/>
              <a:stretch>
                <a:fillRect/>
              </a:stretch>
            </p:blipFill>
            <p:spPr>
              <a:xfrm>
                <a:off x="2779" y="7226"/>
                <a:ext cx="1226" cy="616"/>
              </a:xfrm>
              <a:prstGeom prst="rect">
                <a:avLst/>
              </a:prstGeom>
            </p:spPr>
          </p:pic>
          <p:pic>
            <p:nvPicPr>
              <p:cNvPr id="6" name="图片 5" descr="交换机8端口千兆"/>
              <p:cNvPicPr>
                <a:picLocks noChangeAspect="1"/>
              </p:cNvPicPr>
              <p:nvPr>
                <p:custDataLst>
                  <p:tags r:id="rId23"/>
                </p:custDataLst>
              </p:nvPr>
            </p:nvPicPr>
            <p:blipFill>
              <a:blip r:embed="rId9"/>
              <a:srcRect l="12309" t="20957" r="9503" b="20096"/>
              <a:stretch>
                <a:fillRect/>
              </a:stretch>
            </p:blipFill>
            <p:spPr>
              <a:xfrm>
                <a:off x="2779" y="6281"/>
                <a:ext cx="1226" cy="616"/>
              </a:xfrm>
              <a:prstGeom prst="rect">
                <a:avLst/>
              </a:prstGeom>
            </p:spPr>
          </p:pic>
          <p:pic>
            <p:nvPicPr>
              <p:cNvPr id="7" name="图片 6" descr="交换机8端口千兆"/>
              <p:cNvPicPr>
                <a:picLocks noChangeAspect="1"/>
              </p:cNvPicPr>
              <p:nvPr>
                <p:custDataLst>
                  <p:tags r:id="rId24"/>
                </p:custDataLst>
              </p:nvPr>
            </p:nvPicPr>
            <p:blipFill>
              <a:blip r:embed="rId9"/>
              <a:srcRect l="12309" t="20957" r="9503" b="20096"/>
              <a:stretch>
                <a:fillRect/>
              </a:stretch>
            </p:blipFill>
            <p:spPr>
              <a:xfrm>
                <a:off x="2883" y="4342"/>
                <a:ext cx="1226" cy="616"/>
              </a:xfrm>
              <a:prstGeom prst="rect">
                <a:avLst/>
              </a:prstGeom>
            </p:spPr>
          </p:pic>
          <p:pic>
            <p:nvPicPr>
              <p:cNvPr id="8" name="图片 7" descr="交换机8端口千兆"/>
              <p:cNvPicPr>
                <a:picLocks noChangeAspect="1"/>
              </p:cNvPicPr>
              <p:nvPr>
                <p:custDataLst>
                  <p:tags r:id="rId25"/>
                </p:custDataLst>
              </p:nvPr>
            </p:nvPicPr>
            <p:blipFill>
              <a:blip r:embed="rId9"/>
              <a:srcRect l="12309" t="20957" r="9503" b="20096"/>
              <a:stretch>
                <a:fillRect/>
              </a:stretch>
            </p:blipFill>
            <p:spPr>
              <a:xfrm>
                <a:off x="2779" y="5303"/>
                <a:ext cx="1226" cy="616"/>
              </a:xfrm>
              <a:prstGeom prst="rect">
                <a:avLst/>
              </a:prstGeom>
            </p:spPr>
          </p:pic>
          <p:sp>
            <p:nvSpPr>
              <p:cNvPr id="9" name="文本框 8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354" y="2292"/>
                <a:ext cx="2425" cy="5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600" b="1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办公楼交换机</a:t>
                </a:r>
                <a:endPara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2" name="文本框 11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354" y="3328"/>
                <a:ext cx="2373" cy="5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zh-CN" altLang="en-US" sz="1600" b="1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财务处交换机</a:t>
                </a:r>
                <a:endPara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3" name="文本框 12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353" y="4278"/>
                <a:ext cx="2276" cy="5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zh-CN" altLang="en-US" sz="1600" b="1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人事部交换机</a:t>
                </a:r>
                <a:endPara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353" y="5337"/>
                <a:ext cx="2276" cy="5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600" b="1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图书馆交换机</a:t>
                </a:r>
                <a:endPara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5" name="文本框 14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216" y="6264"/>
                <a:ext cx="2667" cy="53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600" b="1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宿舍汇聚交换机</a:t>
                </a:r>
                <a:endParaRPr lang="zh-CN" altLang="en-US" sz="16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60" name="文本框 59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708" y="1218"/>
                <a:ext cx="2885" cy="656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r>
                  <a:rPr lang="zh-CN" altLang="en-US" sz="2000" b="1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各区域</a:t>
                </a:r>
                <a:r>
                  <a:rPr lang="zh-CN" altLang="en-US" sz="2000" b="1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交换机</a:t>
                </a:r>
                <a:endParaRPr lang="zh-CN" altLang="en-US" sz="2000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endParaRPr>
              </a:p>
            </p:txBody>
          </p:sp>
        </p:grpSp>
      </p:grpSp>
      <p:sp>
        <p:nvSpPr>
          <p:cNvPr id="64" name="右箭头 63"/>
          <p:cNvSpPr/>
          <p:nvPr/>
        </p:nvSpPr>
        <p:spPr>
          <a:xfrm>
            <a:off x="6998970" y="2722245"/>
            <a:ext cx="2299335" cy="29972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右箭头 64"/>
          <p:cNvSpPr/>
          <p:nvPr/>
        </p:nvSpPr>
        <p:spPr>
          <a:xfrm>
            <a:off x="7004050" y="4031615"/>
            <a:ext cx="2264410" cy="29972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32"/>
            </p:custDataLst>
          </p:nvPr>
        </p:nvSpPr>
        <p:spPr>
          <a:xfrm>
            <a:off x="52070" y="4965065"/>
            <a:ext cx="19577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教学楼汇聚交换机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914515" y="2385060"/>
            <a:ext cx="220154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olidFill>
                  <a:srgbClr val="3B3B3B"/>
                </a:solidFill>
                <a:latin typeface="Times New Roman" panose="02020603050405020304" charset="0"/>
                <a:ea typeface="monospace"/>
                <a:cs typeface="Times New Roman" panose="02020603050405020304" charset="0"/>
                <a:sym typeface="+mn-ea"/>
              </a:rPr>
              <a:t>_rr_index</a:t>
            </a:r>
            <a:r>
              <a:rPr lang="zh-CN" altLang="en-US" sz="1600" b="1">
                <a:solidFill>
                  <a:srgbClr val="3B3B3B"/>
                </a:solidFill>
                <a:latin typeface="Times New Roman" panose="02020603050405020304" charset="0"/>
                <a:ea typeface="monospace"/>
                <a:cs typeface="Times New Roman" panose="02020603050405020304" charset="0"/>
                <a:sym typeface="+mn-ea"/>
              </a:rPr>
              <a:t>指向服务器</a:t>
            </a:r>
            <a:r>
              <a:rPr lang="en-US" altLang="zh-CN" sz="1600" b="1">
                <a:solidFill>
                  <a:srgbClr val="3B3B3B"/>
                </a:solidFill>
                <a:latin typeface="Times New Roman" panose="02020603050405020304" charset="0"/>
                <a:ea typeface="monospace"/>
                <a:cs typeface="Times New Roman" panose="02020603050405020304" charset="0"/>
                <a:sym typeface="+mn-ea"/>
              </a:rPr>
              <a:t>1</a:t>
            </a:r>
            <a:endParaRPr lang="en-US" altLang="zh-CN" sz="1600" b="1">
              <a:solidFill>
                <a:srgbClr val="3B3B3B"/>
              </a:solidFill>
              <a:latin typeface="Times New Roman" panose="02020603050405020304" charset="0"/>
              <a:ea typeface="monospace"/>
              <a:cs typeface="Times New Roman" panose="02020603050405020304" charset="0"/>
              <a:sym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6998970" y="3771900"/>
            <a:ext cx="220154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>
                <a:solidFill>
                  <a:srgbClr val="3B3B3B"/>
                </a:solidFill>
                <a:latin typeface="Times New Roman" panose="02020603050405020304" charset="0"/>
                <a:ea typeface="monospace"/>
                <a:cs typeface="Times New Roman" panose="02020603050405020304" charset="0"/>
                <a:sym typeface="+mn-ea"/>
              </a:rPr>
              <a:t>_rr_index</a:t>
            </a:r>
            <a:r>
              <a:rPr lang="zh-CN" altLang="en-US" sz="1600" b="1">
                <a:solidFill>
                  <a:srgbClr val="3B3B3B"/>
                </a:solidFill>
                <a:latin typeface="Times New Roman" panose="02020603050405020304" charset="0"/>
                <a:ea typeface="monospace"/>
                <a:cs typeface="Times New Roman" panose="02020603050405020304" charset="0"/>
                <a:sym typeface="+mn-ea"/>
              </a:rPr>
              <a:t>指向服务器</a:t>
            </a:r>
            <a:r>
              <a:rPr lang="en-US" altLang="zh-CN" sz="1600" b="1">
                <a:solidFill>
                  <a:srgbClr val="3B3B3B"/>
                </a:solidFill>
                <a:latin typeface="Times New Roman" panose="02020603050405020304" charset="0"/>
                <a:ea typeface="monospace"/>
                <a:cs typeface="Times New Roman" panose="02020603050405020304" charset="0"/>
                <a:sym typeface="+mn-ea"/>
              </a:rPr>
              <a:t>2</a:t>
            </a:r>
            <a:endParaRPr lang="en-US" altLang="zh-CN" sz="1600" b="1">
              <a:solidFill>
                <a:srgbClr val="3B3B3B"/>
              </a:solidFill>
              <a:latin typeface="Times New Roman" panose="02020603050405020304" charset="0"/>
              <a:ea typeface="monospace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120634417&quot;,&quot;origin&quot;:0,&quot;type&quot;:&quot;pictures&quot;,&quot;user&quot;:&quot;740961990&quot;}"/>
</p:tagLst>
</file>

<file path=ppt/tags/tag2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3.xml><?xml version="1.0" encoding="utf-8"?>
<p:tagLst xmlns:p="http://schemas.openxmlformats.org/presentationml/2006/main">
  <p:tag name="KSO_DOCER_RESOURCE_TRACE_INFO" val="{&quot;id&quot;:&quot;6034470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4.xml><?xml version="1.0" encoding="utf-8"?>
<p:tagLst xmlns:p="http://schemas.openxmlformats.org/presentationml/2006/main">
  <p:tag name="KSO_DOCER_RESOURCE_TRACE_INFO" val="{&quot;id&quot;:&quot;6034470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5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6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7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8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9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10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11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</p:tagLst>
</file>

<file path=ppt/tags/tag12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13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14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15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16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17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18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19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20.xml><?xml version="1.0" encoding="utf-8"?>
<p:tagLst xmlns:p="http://schemas.openxmlformats.org/presentationml/2006/main">
  <p:tag name="KSO_DOCER_RESOURCE_TRACE_INFO" val="{&quot;id&quot;:&quot;6034470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21.xml><?xml version="1.0" encoding="utf-8"?>
<p:tagLst xmlns:p="http://schemas.openxmlformats.org/presentationml/2006/main">
  <p:tag name="KSO_DOCER_RESOURCE_TRACE_INFO" val="{&quot;id&quot;:&quot;6034470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22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23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24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25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26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27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28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</p:tagLst>
</file>

<file path=ppt/tags/tag29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30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31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32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33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34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35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36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37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38.xml><?xml version="1.0" encoding="utf-8"?>
<p:tagLst xmlns:p="http://schemas.openxmlformats.org/presentationml/2006/main">
  <p:tag name="KSO_DOCER_RESOURCE_TRACE_INFO" val="{&quot;id&quot;:&quot;6034470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39.xml><?xml version="1.0" encoding="utf-8"?>
<p:tagLst xmlns:p="http://schemas.openxmlformats.org/presentationml/2006/main">
  <p:tag name="KSO_DOCER_RESOURCE_TRACE_INFO" val="{&quot;id&quot;:&quot;6034470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40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41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42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43.xml><?xml version="1.0" encoding="utf-8"?>
<p:tagLst xmlns:p="http://schemas.openxmlformats.org/presentationml/2006/main">
  <p:tag name="KSO_DOCER_RESOURCE_TRACE_INFO" val="{&quot;id&quot;:&quot;6034470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44.xml><?xml version="1.0" encoding="utf-8"?>
<p:tagLst xmlns:p="http://schemas.openxmlformats.org/presentationml/2006/main">
  <p:tag name="KSO_DOCER_RESOURCE_TRACE_INFO" val="{&quot;id&quot;:&quot;6034470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45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46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47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48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49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50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51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52.xml><?xml version="1.0" encoding="utf-8"?>
<p:tagLst xmlns:p="http://schemas.openxmlformats.org/presentationml/2006/main">
  <p:tag name="KSO_DOCER_RESOURCE_TRACE_INFO" val="{&quot;id&quot;:&quot;6034470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53.xml><?xml version="1.0" encoding="utf-8"?>
<p:tagLst xmlns:p="http://schemas.openxmlformats.org/presentationml/2006/main">
  <p:tag name="KSO_DOCER_RESOURCE_TRACE_INFO" val="{&quot;id&quot;:&quot;6034470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54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55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56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57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58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59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60.xml><?xml version="1.0" encoding="utf-8"?>
<p:tagLst xmlns:p="http://schemas.openxmlformats.org/presentationml/2006/main">
  <p:tag name="KSO_DOCER_RESOURCE_TRACE_INFO" val="{&quot;id&quot;:&quot;6034470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61.xml><?xml version="1.0" encoding="utf-8"?>
<p:tagLst xmlns:p="http://schemas.openxmlformats.org/presentationml/2006/main">
  <p:tag name="KSO_DOCER_RESOURCE_TRACE_INFO" val="{&quot;id&quot;:&quot;6034470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62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63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64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65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66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67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68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69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70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71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72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73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74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75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76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77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78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79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80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81.xml><?xml version="1.0" encoding="utf-8"?>
<p:tagLst xmlns:p="http://schemas.openxmlformats.org/presentationml/2006/main">
  <p:tag name="KSO_DOCER_RESOURCE_TRACE_INFO" val="{&quot;id&quot;:&quot;219122783&quot;,&quot;origin&quot;:0,&quot;type&quot;:&quot;pictures&quot;,&quot;user&quot;:&quot;740961990&quot;}"/>
</p:tagLst>
</file>

<file path=ppt/tags/tag82.xml><?xml version="1.0" encoding="utf-8"?>
<p:tagLst xmlns:p="http://schemas.openxmlformats.org/presentationml/2006/main">
  <p:tag name="KSO_DOCER_RESOURCE_TRACE_INFO" val="{&quot;id&quot;:&quot;219122783&quot;,&quot;origin&quot;:0,&quot;type&quot;:&quot;pictures&quot;,&quot;user&quot;:&quot;740961990&quot;}"/>
</p:tagLst>
</file>

<file path=ppt/tags/tag83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84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85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86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87.xml><?xml version="1.0" encoding="utf-8"?>
<p:tagLst xmlns:p="http://schemas.openxmlformats.org/presentationml/2006/main">
  <p:tag name="KSO_WM_DIAGRAM_VIRTUALLY_FRAME" val="{&quot;height&quot;:393.2,&quot;left&quot;:0.05,&quot;top&quot;:114.6,&quot;width&quot;:310.35}"/>
</p:tagLst>
</file>

<file path=ppt/tags/tag88.xml><?xml version="1.0" encoding="utf-8"?>
<p:tagLst xmlns:p="http://schemas.openxmlformats.org/presentationml/2006/main">
  <p:tag name="KSO_WM_DIAGRAM_VIRTUALLY_FRAME" val="{&quot;height&quot;:393.2,&quot;left&quot;:9.15,&quot;top&quot;:114.6,&quot;width&quot;:301.25}"/>
</p:tagLst>
</file>

<file path=ppt/tags/tag89.xml><?xml version="1.0" encoding="utf-8"?>
<p:tagLst xmlns:p="http://schemas.openxmlformats.org/presentationml/2006/main">
  <p:tag name="KSO_DOCER_RESOURCE_TRACE_INFO" val="{&quot;id&quot;:&quot;50063456&quot;,&quot;origin&quot;:0,&quot;type&quot;:&quot;icons&quot;,&quot;user&quot;:&quot;740961990&quot;}"/>
</p:tagLst>
</file>

<file path=ppt/tags/tag90.xml><?xml version="1.0" encoding="utf-8"?>
<p:tagLst xmlns:p="http://schemas.openxmlformats.org/presentationml/2006/main">
  <p:tag name="KSO_DOCER_RESOURCE_TRACE_INFO" val="{&quot;id&quot;:&quot;50063456&quot;,&quot;origin&quot;:0,&quot;type&quot;:&quot;icons&quot;,&quot;user&quot;:&quot;740961990&quot;}"/>
</p:tagLst>
</file>

<file path=ppt/tags/tag91.xml><?xml version="1.0" encoding="utf-8"?>
<p:tagLst xmlns:p="http://schemas.openxmlformats.org/presentationml/2006/main">
  <p:tag name="KSO_WM_DIAGRAM_VIRTUALLY_FRAME" val="{&quot;height&quot;:393.2,&quot;left&quot;:0.05,&quot;top&quot;:114.6,&quot;width&quot;:310.35}"/>
</p:tagLst>
</file>

<file path=ppt/tags/tag92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93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141.4,&quot;left&quot;:115.25,&quot;top&quot;:366.4,&quot;width&quot;:195.15}"/>
</p:tagLst>
</file>

<file path=ppt/tags/tag94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95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96.xml><?xml version="1.0" encoding="utf-8"?>
<p:tagLst xmlns:p="http://schemas.openxmlformats.org/presentationml/2006/main">
  <p:tag name="KSO_DOCER_RESOURCE_TRACE_INFO" val="{&quot;id&quot;:&quot;219122783&quot;,&quot;origin&quot;:0,&quot;type&quot;:&quot;pictures&quot;,&quot;user&quot;:&quot;740961990&quot;}"/>
</p:tagLst>
</file>

<file path=ppt/tags/tag97.xml><?xml version="1.0" encoding="utf-8"?>
<p:tagLst xmlns:p="http://schemas.openxmlformats.org/presentationml/2006/main">
  <p:tag name="KSO_DOCER_RESOURCE_TRACE_INFO" val="{&quot;id&quot;:&quot;219122783&quot;,&quot;origin&quot;:0,&quot;type&quot;:&quot;pictures&quot;,&quot;user&quot;:&quot;740961990&quot;}"/>
</p:tagLst>
</file>

<file path=ppt/tags/tag98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99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100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101.xml><?xml version="1.0" encoding="utf-8"?>
<p:tagLst xmlns:p="http://schemas.openxmlformats.org/presentationml/2006/main">
  <p:tag name="KSO_WM_DIAGRAM_VIRTUALLY_FRAME" val="{&quot;height&quot;:141.4,&quot;left&quot;:115.25,&quot;top&quot;:366.4,&quot;width&quot;:195.15}"/>
</p:tagLst>
</file>

<file path=ppt/tags/tag102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393.2,&quot;left&quot;:0.05,&quot;top&quot;:114.6,&quot;width&quot;:310.35}"/>
</p:tagLst>
</file>

<file path=ppt/tags/tag103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393.2,&quot;left&quot;:0.05,&quot;top&quot;:114.6,&quot;width&quot;:310.35}"/>
</p:tagLst>
</file>

<file path=ppt/tags/tag104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393.2,&quot;left&quot;:0.05,&quot;top&quot;:114.6,&quot;width&quot;:310.35}"/>
</p:tagLst>
</file>

<file path=ppt/tags/tag105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393.2,&quot;left&quot;:0.05,&quot;top&quot;:114.6,&quot;width&quot;:310.35}"/>
</p:tagLst>
</file>

<file path=ppt/tags/tag106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393.2,&quot;left&quot;:0.05,&quot;top&quot;:114.6,&quot;width&quot;:310.35}"/>
</p:tagLst>
</file>

<file path=ppt/tags/tag107.xml><?xml version="1.0" encoding="utf-8"?>
<p:tagLst xmlns:p="http://schemas.openxmlformats.org/presentationml/2006/main">
  <p:tag name="KSO_DOCER_RESOURCE_TRACE_INFO" val="{&quot;id&quot;:&quot;72802324&quot;,&quot;origin&quot;:0,&quot;type&quot;:&quot;pictures&quot;,&quot;user&quot;:&quot;740961990&quot;}"/>
  <p:tag name="KSO_WM_DIAGRAM_VIRTUALLY_FRAME" val="{&quot;height&quot;:393.2,&quot;left&quot;:0.05,&quot;top&quot;:114.6,&quot;width&quot;:310.35}"/>
</p:tagLst>
</file>

<file path=ppt/tags/tag108.xml><?xml version="1.0" encoding="utf-8"?>
<p:tagLst xmlns:p="http://schemas.openxmlformats.org/presentationml/2006/main">
  <p:tag name="KSO_WM_DIAGRAM_VIRTUALLY_FRAME" val="{&quot;height&quot;:393.2,&quot;left&quot;:0.05,&quot;top&quot;:114.6,&quot;width&quot;:310.35}"/>
</p:tagLst>
</file>

<file path=ppt/tags/tag109.xml><?xml version="1.0" encoding="utf-8"?>
<p:tagLst xmlns:p="http://schemas.openxmlformats.org/presentationml/2006/main">
  <p:tag name="KSO_WM_DIAGRAM_VIRTUALLY_FRAME" val="{&quot;height&quot;:393.2,&quot;left&quot;:0.05,&quot;top&quot;:114.6,&quot;width&quot;:310.35}"/>
</p:tagLst>
</file>

<file path=ppt/tags/tag110.xml><?xml version="1.0" encoding="utf-8"?>
<p:tagLst xmlns:p="http://schemas.openxmlformats.org/presentationml/2006/main">
  <p:tag name="KSO_WM_DIAGRAM_VIRTUALLY_FRAME" val="{&quot;height&quot;:393.2,&quot;left&quot;:0.05,&quot;top&quot;:114.6,&quot;width&quot;:310.35}"/>
</p:tagLst>
</file>

<file path=ppt/tags/tag111.xml><?xml version="1.0" encoding="utf-8"?>
<p:tagLst xmlns:p="http://schemas.openxmlformats.org/presentationml/2006/main">
  <p:tag name="KSO_WM_DIAGRAM_VIRTUALLY_FRAME" val="{&quot;height&quot;:393.2,&quot;left&quot;:0.05,&quot;top&quot;:114.6,&quot;width&quot;:310.35}"/>
</p:tagLst>
</file>

<file path=ppt/tags/tag112.xml><?xml version="1.0" encoding="utf-8"?>
<p:tagLst xmlns:p="http://schemas.openxmlformats.org/presentationml/2006/main">
  <p:tag name="KSO_WM_DIAGRAM_VIRTUALLY_FRAME" val="{&quot;height&quot;:393.2,&quot;left&quot;:0.05,&quot;top&quot;:114.6,&quot;width&quot;:310.35}"/>
</p:tagLst>
</file>

<file path=ppt/tags/tag113.xml><?xml version="1.0" encoding="utf-8"?>
<p:tagLst xmlns:p="http://schemas.openxmlformats.org/presentationml/2006/main">
  <p:tag name="KSO_WM_DIAGRAM_VIRTUALLY_FRAME" val="{&quot;height&quot;:393.2,&quot;left&quot;:9.15,&quot;top&quot;:114.6,&quot;width&quot;:301.25}"/>
</p:tagLst>
</file>

<file path=ppt/tags/tag114.xml><?xml version="1.0" encoding="utf-8"?>
<p:tagLst xmlns:p="http://schemas.openxmlformats.org/presentationml/2006/main">
  <p:tag name="KSO_WM_DIAGRAM_VIRTUALLY_FRAME" val="{&quot;height&quot;:393.2,&quot;left&quot;:0.05,&quot;top&quot;:114.6,&quot;width&quot;:310.35}"/>
</p:tagLst>
</file>

<file path=ppt/tags/tag115.xml><?xml version="1.0" encoding="utf-8"?>
<p:tagLst xmlns:p="http://schemas.openxmlformats.org/presentationml/2006/main">
  <p:tag name="resource_record_key" val="{&quot;10&quot;:[50063456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WPS 演示</Application>
  <PresentationFormat>宽屏</PresentationFormat>
  <Paragraphs>96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monospace</vt:lpstr>
      <vt:lpstr>Segoe Print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shaow</dc:creator>
  <cp:lastModifiedBy>kevin</cp:lastModifiedBy>
  <cp:revision>32</cp:revision>
  <dcterms:created xsi:type="dcterms:W3CDTF">2023-08-09T12:44:00Z</dcterms:created>
  <dcterms:modified xsi:type="dcterms:W3CDTF">2026-06-04T10:57:21Z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6EA5A35DDAE941E0A678FDBDF0C72142_12</vt:lpwstr>
  </property>
</Properties>
</file>